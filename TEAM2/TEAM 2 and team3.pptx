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71" r:id="rId5"/>
    <p:sldId id="273" r:id="rId6"/>
    <p:sldId id="262" r:id="rId7"/>
    <p:sldId id="270" r:id="rId8"/>
    <p:sldId id="274" r:id="rId9"/>
    <p:sldId id="276" r:id="rId10"/>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560"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800" b="1" i="0" u="heavy">
                <a:solidFill>
                  <a:srgbClr val="434343"/>
                </a:solidFill>
                <a:latin typeface="Tahoma"/>
                <a:cs typeface="Tahom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000" b="0" i="0">
                <a:solidFill>
                  <a:srgbClr val="434343"/>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1/3/2025</a:t>
            </a:fld>
            <a:endParaRPr lang="en-US"/>
          </a:p>
        </p:txBody>
      </p:sp>
      <p:sp>
        <p:nvSpPr>
          <p:cNvPr id="6" name="Holder 6"/>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2700">
              <a:lnSpc>
                <a:spcPct val="100000"/>
              </a:lnSpc>
              <a:spcBef>
                <a:spcPts val="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1" i="0" u="heavy">
                <a:solidFill>
                  <a:srgbClr val="434343"/>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000" b="0" i="0">
                <a:solidFill>
                  <a:srgbClr val="434343"/>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1/3/2025</a:t>
            </a:fld>
            <a:endParaRPr lang="en-US"/>
          </a:p>
        </p:txBody>
      </p:sp>
      <p:sp>
        <p:nvSpPr>
          <p:cNvPr id="6" name="Holder 6"/>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2700">
              <a:lnSpc>
                <a:spcPct val="100000"/>
              </a:lnSpc>
              <a:spcBef>
                <a:spcPts val="5"/>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1" i="0" u="heavy">
                <a:solidFill>
                  <a:srgbClr val="434343"/>
                </a:solidFill>
                <a:latin typeface="Tahoma"/>
                <a:cs typeface="Tahom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1/3/2025</a:t>
            </a:fld>
            <a:endParaRPr lang="en-US"/>
          </a:p>
        </p:txBody>
      </p:sp>
      <p:sp>
        <p:nvSpPr>
          <p:cNvPr id="7" name="Holder 7"/>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2700">
              <a:lnSpc>
                <a:spcPct val="100000"/>
              </a:lnSpc>
              <a:spcBef>
                <a:spcPts val="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1" i="0" u="heavy">
                <a:solidFill>
                  <a:srgbClr val="434343"/>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1/3/2025</a:t>
            </a:fld>
            <a:endParaRPr lang="en-US"/>
          </a:p>
        </p:txBody>
      </p:sp>
      <p:sp>
        <p:nvSpPr>
          <p:cNvPr id="5" name="Holder 5"/>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2700">
              <a:lnSpc>
                <a:spcPct val="100000"/>
              </a:lnSpc>
              <a:spcBef>
                <a:spcPts val="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1/3/2025</a:t>
            </a:fld>
            <a:endParaRPr lang="en-US"/>
          </a:p>
        </p:txBody>
      </p:sp>
      <p:sp>
        <p:nvSpPr>
          <p:cNvPr id="4" name="Holder 4"/>
          <p:cNvSpPr>
            <a:spLocks noGrp="1"/>
          </p:cNvSpPr>
          <p:nvPr>
            <p:ph type="sldNum" sz="quarter" idx="7"/>
          </p:nvPr>
        </p:nvSpPr>
        <p:spPr/>
        <p:txBody>
          <a:bodyPr lIns="0" tIns="0" rIns="0" bIns="0"/>
          <a:lstStyle>
            <a:lvl1pPr>
              <a:defRPr sz="1000" b="0" i="0">
                <a:solidFill>
                  <a:srgbClr val="595959"/>
                </a:solidFill>
                <a:latin typeface="Arial MT"/>
                <a:cs typeface="Arial MT"/>
              </a:defRPr>
            </a:lvl1pPr>
          </a:lstStyle>
          <a:p>
            <a:pPr marL="12700">
              <a:lnSpc>
                <a:spcPct val="100000"/>
              </a:lnSpc>
              <a:spcBef>
                <a:spcPts val="5"/>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825" y="53721"/>
            <a:ext cx="7806690" cy="604520"/>
          </a:xfrm>
          <a:prstGeom prst="rect">
            <a:avLst/>
          </a:prstGeom>
        </p:spPr>
        <p:txBody>
          <a:bodyPr wrap="square" lIns="0" tIns="0" rIns="0" bIns="0">
            <a:spAutoFit/>
          </a:bodyPr>
          <a:lstStyle>
            <a:lvl1pPr>
              <a:defRPr sz="3800" b="1" i="0" u="heavy">
                <a:solidFill>
                  <a:srgbClr val="434343"/>
                </a:solidFill>
                <a:latin typeface="Tahoma"/>
                <a:cs typeface="Tahoma"/>
              </a:defRPr>
            </a:lvl1pPr>
          </a:lstStyle>
          <a:p>
            <a:endParaRPr/>
          </a:p>
        </p:txBody>
      </p:sp>
      <p:sp>
        <p:nvSpPr>
          <p:cNvPr id="3" name="Holder 3"/>
          <p:cNvSpPr>
            <a:spLocks noGrp="1"/>
          </p:cNvSpPr>
          <p:nvPr>
            <p:ph type="body" idx="1"/>
          </p:nvPr>
        </p:nvSpPr>
        <p:spPr>
          <a:xfrm>
            <a:off x="354317" y="788115"/>
            <a:ext cx="8119109" cy="2524760"/>
          </a:xfrm>
          <a:prstGeom prst="rect">
            <a:avLst/>
          </a:prstGeom>
        </p:spPr>
        <p:txBody>
          <a:bodyPr wrap="square" lIns="0" tIns="0" rIns="0" bIns="0">
            <a:spAutoFit/>
          </a:bodyPr>
          <a:lstStyle>
            <a:lvl1pPr>
              <a:defRPr sz="2000" b="0" i="0">
                <a:solidFill>
                  <a:srgbClr val="434343"/>
                </a:solidFill>
                <a:latin typeface="Verdana"/>
                <a:cs typeface="Verdana"/>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1/3/2025</a:t>
            </a:fld>
            <a:endParaRPr lang="en-US"/>
          </a:p>
        </p:txBody>
      </p:sp>
      <p:sp>
        <p:nvSpPr>
          <p:cNvPr id="6" name="Holder 6"/>
          <p:cNvSpPr>
            <a:spLocks noGrp="1"/>
          </p:cNvSpPr>
          <p:nvPr>
            <p:ph type="sldNum" sz="quarter" idx="7"/>
          </p:nvPr>
        </p:nvSpPr>
        <p:spPr>
          <a:xfrm>
            <a:off x="8781525" y="4778067"/>
            <a:ext cx="205104" cy="167639"/>
          </a:xfrm>
          <a:prstGeom prst="rect">
            <a:avLst/>
          </a:prstGeom>
        </p:spPr>
        <p:txBody>
          <a:bodyPr wrap="square" lIns="0" tIns="0" rIns="0" bIns="0">
            <a:spAutoFit/>
          </a:bodyPr>
          <a:lstStyle>
            <a:lvl1pPr>
              <a:defRPr sz="1000" b="0" i="0">
                <a:solidFill>
                  <a:srgbClr val="595959"/>
                </a:solidFill>
                <a:latin typeface="Arial MT"/>
                <a:cs typeface="Arial MT"/>
              </a:defRPr>
            </a:lvl1pPr>
          </a:lstStyle>
          <a:p>
            <a:pPr marL="12700">
              <a:lnSpc>
                <a:spcPct val="100000"/>
              </a:lnSpc>
              <a:spcBef>
                <a:spcPts val="5"/>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87" y="4987462"/>
            <a:ext cx="9153525" cy="161290"/>
            <a:chOff x="-4787" y="4987462"/>
            <a:chExt cx="9153525" cy="161290"/>
          </a:xfrm>
        </p:grpSpPr>
        <p:sp>
          <p:nvSpPr>
            <p:cNvPr id="3" name="object 3"/>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595959"/>
              </a:solidFill>
            </a:ln>
          </p:spPr>
          <p:txBody>
            <a:bodyPr wrap="square" lIns="0" tIns="0" rIns="0" bIns="0" rtlCol="0"/>
            <a:lstStyle/>
            <a:p>
              <a:endParaRPr/>
            </a:p>
          </p:txBody>
        </p:sp>
        <p:sp>
          <p:nvSpPr>
            <p:cNvPr id="4" name="object 4"/>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12"/>
              </a:srgbClr>
            </a:solidFill>
          </p:spPr>
          <p:txBody>
            <a:bodyPr wrap="square" lIns="0" tIns="0" rIns="0" bIns="0" rtlCol="0"/>
            <a:lstStyle/>
            <a:p>
              <a:endParaRPr/>
            </a:p>
          </p:txBody>
        </p:sp>
        <p:sp>
          <p:nvSpPr>
            <p:cNvPr id="5" name="object 5"/>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1</a:t>
            </a:fld>
            <a:endParaRPr spc="-25" dirty="0"/>
          </a:p>
        </p:txBody>
      </p:sp>
      <p:sp>
        <p:nvSpPr>
          <p:cNvPr id="7" name="object 7"/>
          <p:cNvSpPr txBox="1">
            <a:spLocks noGrp="1"/>
          </p:cNvSpPr>
          <p:nvPr>
            <p:ph type="body" idx="1"/>
          </p:nvPr>
        </p:nvSpPr>
        <p:spPr>
          <a:xfrm>
            <a:off x="354317" y="788115"/>
            <a:ext cx="8119109" cy="1616443"/>
          </a:xfrm>
          <a:prstGeom prst="rect">
            <a:avLst/>
          </a:prstGeom>
        </p:spPr>
        <p:txBody>
          <a:bodyPr vert="horz" wrap="square" lIns="0" tIns="381610" rIns="0" bIns="0" rtlCol="0">
            <a:spAutoFit/>
          </a:bodyPr>
          <a:lstStyle/>
          <a:p>
            <a:pPr marL="911225" marR="5080" indent="-414020" algn="l">
              <a:lnSpc>
                <a:spcPct val="100000"/>
              </a:lnSpc>
              <a:spcBef>
                <a:spcPts val="100"/>
              </a:spcBef>
            </a:pPr>
            <a:r>
              <a:rPr lang="en-US" sz="4000" dirty="0">
                <a:solidFill>
                  <a:schemeClr val="accent3"/>
                </a:solidFill>
                <a:latin typeface="Times New Roman" panose="02020603050405020304" pitchFamily="18" charset="0"/>
                <a:cs typeface="Times New Roman" panose="02020603050405020304" pitchFamily="18" charset="0"/>
              </a:rPr>
              <a:t>   </a:t>
            </a:r>
            <a:r>
              <a:rPr lang="en-US" sz="4000" dirty="0">
                <a:solidFill>
                  <a:schemeClr val="tx2">
                    <a:lumMod val="50000"/>
                  </a:schemeClr>
                </a:solidFill>
                <a:latin typeface="Times New Roman" panose="02020603050405020304" pitchFamily="18" charset="0"/>
                <a:cs typeface="Times New Roman" panose="02020603050405020304" pitchFamily="18" charset="0"/>
              </a:rPr>
              <a:t>Interrupt-driven client-server communication for led control</a:t>
            </a:r>
            <a:endParaRPr sz="4000" dirty="0">
              <a:solidFill>
                <a:schemeClr val="tx2">
                  <a:lumMod val="50000"/>
                </a:schemeClr>
              </a:solidFill>
              <a:latin typeface="Tahoma"/>
              <a:cs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354317" y="788115"/>
            <a:ext cx="8119109" cy="3695884"/>
          </a:xfrm>
          <a:prstGeom prst="rect">
            <a:avLst/>
          </a:prstGeom>
        </p:spPr>
        <p:txBody>
          <a:bodyPr vert="horz" wrap="square" lIns="0" tIns="12700" rIns="0" bIns="0" rtlCol="0">
            <a:spAutoFit/>
          </a:bodyPr>
          <a:lstStyle/>
          <a:p>
            <a:pPr marL="12700" algn="just">
              <a:lnSpc>
                <a:spcPct val="100000"/>
              </a:lnSpc>
              <a:spcBef>
                <a:spcPts val="100"/>
              </a:spcBef>
              <a:tabLst>
                <a:tab pos="394335" algn="l"/>
              </a:tabLst>
            </a:pPr>
            <a:endParaRPr lang="en-US" sz="1800" spc="-10" dirty="0">
              <a:latin typeface="Times New Roman" panose="02020603050405020304" pitchFamily="18" charset="0"/>
              <a:cs typeface="Times New Roman" panose="02020603050405020304" pitchFamily="18" charset="0"/>
            </a:endParaRPr>
          </a:p>
          <a:p>
            <a:pPr marL="12700" algn="just">
              <a:lnSpc>
                <a:spcPct val="100000"/>
              </a:lnSpc>
              <a:spcBef>
                <a:spcPts val="100"/>
              </a:spcBef>
              <a:tabLst>
                <a:tab pos="394335" algn="l"/>
              </a:tabLst>
            </a:pPr>
            <a:r>
              <a:rPr lang="en-US" sz="1800" spc="-10" dirty="0">
                <a:latin typeface="Times New Roman" panose="02020603050405020304" pitchFamily="18" charset="0"/>
                <a:cs typeface="Times New Roman" panose="02020603050405020304" pitchFamily="18" charset="0"/>
              </a:rPr>
              <a:t>In embedded systems, efficient communication between client and server plays a crucial role in real-time applications. This project integrates two systems to demonstrate an interrupt-driven client-server communication model for LED control. </a:t>
            </a:r>
          </a:p>
          <a:p>
            <a:pPr marL="12700" algn="just">
              <a:lnSpc>
                <a:spcPct val="100000"/>
              </a:lnSpc>
              <a:spcBef>
                <a:spcPts val="100"/>
              </a:spcBef>
              <a:tabLst>
                <a:tab pos="394335" algn="l"/>
              </a:tabLst>
            </a:pPr>
            <a:endParaRPr lang="en-US" sz="1800" spc="-10" dirty="0">
              <a:latin typeface="Times New Roman" panose="02020603050405020304" pitchFamily="18" charset="0"/>
              <a:cs typeface="Times New Roman" panose="02020603050405020304" pitchFamily="18" charset="0"/>
            </a:endParaRPr>
          </a:p>
          <a:p>
            <a:pPr marL="12700" algn="just">
              <a:lnSpc>
                <a:spcPct val="100000"/>
              </a:lnSpc>
              <a:spcBef>
                <a:spcPts val="100"/>
              </a:spcBef>
              <a:tabLst>
                <a:tab pos="394335" algn="l"/>
              </a:tabLst>
            </a:pPr>
            <a:r>
              <a:rPr lang="en-US" sz="1800" spc="-10" dirty="0">
                <a:latin typeface="Times New Roman" panose="02020603050405020304" pitchFamily="18" charset="0"/>
                <a:cs typeface="Times New Roman" panose="02020603050405020304" pitchFamily="18" charset="0"/>
              </a:rPr>
              <a:t>	The first system (Client) involves a Raspberry Pi configured to detect GPIO interrupts. Upon triggering an interrupt, the client prompts the user to choose an operation, such as turning an LED on or off. The selected action is sent to the second system (Server) over the TCP/IP protocol using sockets. The server receives the data, processes it, and interacts with its GPIO driver to control the LED state. This combined setup highlights seamless real-time interaction, network communication, and hardware control across two boards.</a:t>
            </a:r>
          </a:p>
          <a:p>
            <a:pPr marL="12700">
              <a:lnSpc>
                <a:spcPct val="100000"/>
              </a:lnSpc>
              <a:spcBef>
                <a:spcPts val="100"/>
              </a:spcBef>
              <a:tabLst>
                <a:tab pos="394335" algn="l"/>
              </a:tabLst>
            </a:pPr>
            <a:endParaRPr spc="-10" dirty="0"/>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7793355" algn="l"/>
              </a:tabLst>
            </a:pPr>
            <a:r>
              <a:rPr lang="en-US" sz="3200" dirty="0">
                <a:latin typeface="Times New Roman" panose="02020603050405020304" pitchFamily="18" charset="0"/>
                <a:cs typeface="Times New Roman" panose="02020603050405020304" pitchFamily="18" charset="0"/>
              </a:rPr>
              <a:t>INTRODUCTION</a:t>
            </a:r>
            <a:r>
              <a:rPr dirty="0"/>
              <a:t>	</a:t>
            </a:r>
          </a:p>
        </p:txBody>
      </p:sp>
      <p:grpSp>
        <p:nvGrpSpPr>
          <p:cNvPr id="4" name="object 4"/>
          <p:cNvGrpSpPr/>
          <p:nvPr/>
        </p:nvGrpSpPr>
        <p:grpSpPr>
          <a:xfrm>
            <a:off x="-4787" y="4987462"/>
            <a:ext cx="9153525" cy="161290"/>
            <a:chOff x="-4787" y="4987462"/>
            <a:chExt cx="9153525" cy="161290"/>
          </a:xfrm>
        </p:grpSpPr>
        <p:sp>
          <p:nvSpPr>
            <p:cNvPr id="5" name="object 5"/>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12"/>
              </a:srgbClr>
            </a:solidFill>
          </p:spPr>
          <p:txBody>
            <a:bodyPr wrap="square" lIns="0" tIns="0" rIns="0" bIns="0" rtlCol="0"/>
            <a:lstStyle/>
            <a:p>
              <a:endParaRPr/>
            </a:p>
          </p:txBody>
        </p:sp>
        <p:sp>
          <p:nvSpPr>
            <p:cNvPr id="6" name="object 6"/>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125" y="118921"/>
            <a:ext cx="7832090" cy="493725"/>
          </a:xfrm>
          <a:prstGeom prst="rect">
            <a:avLst/>
          </a:prstGeom>
        </p:spPr>
        <p:txBody>
          <a:bodyPr vert="horz" wrap="square" lIns="0" tIns="12700" rIns="0" bIns="0" rtlCol="0">
            <a:spAutoFit/>
          </a:bodyPr>
          <a:lstStyle/>
          <a:p>
            <a:pPr marL="25400">
              <a:lnSpc>
                <a:spcPts val="4025"/>
              </a:lnSpc>
              <a:spcBef>
                <a:spcPts val="100"/>
              </a:spcBef>
              <a:tabLst>
                <a:tab pos="7806055" algn="l"/>
              </a:tabLst>
            </a:pPr>
            <a:r>
              <a:rPr lang="en-US" sz="3200" spc="114" dirty="0">
                <a:latin typeface="Times New Roman" panose="02020603050405020304" pitchFamily="18" charset="0"/>
                <a:cs typeface="Times New Roman" panose="02020603050405020304" pitchFamily="18" charset="0"/>
              </a:rPr>
              <a:t>OBJECTIVES</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77825" y="1354920"/>
            <a:ext cx="8320405" cy="1692323"/>
          </a:xfrm>
          <a:prstGeom prst="rect">
            <a:avLst/>
          </a:prstGeom>
        </p:spPr>
        <p:txBody>
          <a:bodyPr vert="horz" wrap="square" lIns="0" tIns="12700" rIns="0" bIns="0" rtlCol="0">
            <a:spAutoFit/>
          </a:bodyPr>
          <a:lstStyle/>
          <a:p>
            <a:pPr marL="430530" marR="5080" indent="-342900">
              <a:lnSpc>
                <a:spcPct val="114999"/>
              </a:lnSpc>
              <a:spcBef>
                <a:spcPts val="100"/>
              </a:spcBef>
              <a:buFont typeface="Arial" panose="020B0604020202020204" pitchFamily="34" charset="0"/>
              <a:buChar char="•"/>
              <a:tabLst>
                <a:tab pos="469900" algn="l"/>
              </a:tabLst>
            </a:pPr>
            <a:r>
              <a:rPr lang="en-US" dirty="0">
                <a:latin typeface="Times New Roman" panose="02020603050405020304" pitchFamily="18" charset="0"/>
                <a:cs typeface="Times New Roman" panose="02020603050405020304" pitchFamily="18" charset="0"/>
              </a:rPr>
              <a:t>Detect GPIO interrupts on the client side</a:t>
            </a:r>
          </a:p>
          <a:p>
            <a:pPr marL="430530" marR="5080" indent="-342900">
              <a:lnSpc>
                <a:spcPct val="114999"/>
              </a:lnSpc>
              <a:spcBef>
                <a:spcPts val="100"/>
              </a:spcBef>
              <a:buFont typeface="Arial" panose="020B0604020202020204" pitchFamily="34" charset="0"/>
              <a:buChar char="•"/>
              <a:tabLst>
                <a:tab pos="469900" algn="l"/>
              </a:tabLst>
            </a:pPr>
            <a:r>
              <a:rPr lang="en-US" dirty="0">
                <a:latin typeface="Times New Roman" panose="02020603050405020304" pitchFamily="18" charset="0"/>
                <a:cs typeface="Times New Roman" panose="02020603050405020304" pitchFamily="18" charset="0"/>
              </a:rPr>
              <a:t>Communicate user commands to the server via TCP/IP.</a:t>
            </a:r>
          </a:p>
          <a:p>
            <a:pPr marL="430530" marR="5080" indent="-342900">
              <a:lnSpc>
                <a:spcPct val="114999"/>
              </a:lnSpc>
              <a:spcBef>
                <a:spcPts val="100"/>
              </a:spcBef>
              <a:buFont typeface="Arial" panose="020B0604020202020204" pitchFamily="34" charset="0"/>
              <a:buChar char="•"/>
              <a:tabLst>
                <a:tab pos="469900" algn="l"/>
              </a:tabLst>
            </a:pPr>
            <a:r>
              <a:rPr lang="en-US" dirty="0">
                <a:latin typeface="Times New Roman" panose="02020603050405020304" pitchFamily="18" charset="0"/>
                <a:cs typeface="Times New Roman" panose="02020603050405020304" pitchFamily="18" charset="0"/>
              </a:rPr>
              <a:t>Control LED state on the server side.</a:t>
            </a:r>
          </a:p>
          <a:p>
            <a:pPr marL="430530" marR="5080" indent="-342900">
              <a:lnSpc>
                <a:spcPct val="114999"/>
              </a:lnSpc>
              <a:spcBef>
                <a:spcPts val="100"/>
              </a:spcBef>
              <a:buFont typeface="Arial" panose="020B0604020202020204" pitchFamily="34" charset="0"/>
              <a:buChar char="•"/>
              <a:tabLst>
                <a:tab pos="469900" algn="l"/>
              </a:tabLst>
            </a:pPr>
            <a:r>
              <a:rPr lang="en-US" dirty="0">
                <a:latin typeface="Times New Roman" panose="02020603050405020304" pitchFamily="18" charset="0"/>
                <a:cs typeface="Times New Roman" panose="02020603050405020304" pitchFamily="18" charset="0"/>
              </a:rPr>
              <a:t>Ensure real-time hardware interaction</a:t>
            </a:r>
            <a:r>
              <a:rPr lang="en-US" sz="2000" dirty="0">
                <a:latin typeface="Times New Roman" panose="02020603050405020304" pitchFamily="18" charset="0"/>
                <a:cs typeface="Times New Roman" panose="02020603050405020304" pitchFamily="18" charset="0"/>
              </a:rPr>
              <a:t>.</a:t>
            </a:r>
          </a:p>
          <a:p>
            <a:pPr marL="430530" marR="5080" indent="-342900">
              <a:lnSpc>
                <a:spcPct val="114999"/>
              </a:lnSpc>
              <a:spcBef>
                <a:spcPts val="100"/>
              </a:spcBef>
              <a:buFont typeface="Arial" panose="020B0604020202020204" pitchFamily="34" charset="0"/>
              <a:buChar char="•"/>
              <a:tabLst>
                <a:tab pos="469900" algn="l"/>
              </a:tabLst>
            </a:pPr>
            <a:endParaRPr lang="en-US" sz="2000" dirty="0">
              <a:latin typeface="Verdana"/>
              <a:cs typeface="Verdana"/>
            </a:endParaRPr>
          </a:p>
        </p:txBody>
      </p:sp>
      <p:grpSp>
        <p:nvGrpSpPr>
          <p:cNvPr id="4" name="object 4"/>
          <p:cNvGrpSpPr/>
          <p:nvPr/>
        </p:nvGrpSpPr>
        <p:grpSpPr>
          <a:xfrm>
            <a:off x="-4787" y="4987462"/>
            <a:ext cx="9153525" cy="161290"/>
            <a:chOff x="-4787" y="4987462"/>
            <a:chExt cx="9153525" cy="161290"/>
          </a:xfrm>
        </p:grpSpPr>
        <p:sp>
          <p:nvSpPr>
            <p:cNvPr id="5" name="object 5"/>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09"/>
              </a:srgbClr>
            </a:solidFill>
          </p:spPr>
          <p:txBody>
            <a:bodyPr wrap="square" lIns="0" tIns="0" rIns="0" bIns="0" rtlCol="0"/>
            <a:lstStyle/>
            <a:p>
              <a:endParaRPr/>
            </a:p>
          </p:txBody>
        </p:sp>
        <p:sp>
          <p:nvSpPr>
            <p:cNvPr id="6" name="object 6"/>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825" y="118921"/>
            <a:ext cx="7806690" cy="604520"/>
          </a:xfrm>
          <a:prstGeom prst="rect">
            <a:avLst/>
          </a:prstGeom>
        </p:spPr>
        <p:txBody>
          <a:bodyPr vert="horz" wrap="square" lIns="0" tIns="12700" rIns="0" bIns="0" rtlCol="0">
            <a:spAutoFit/>
          </a:bodyPr>
          <a:lstStyle/>
          <a:p>
            <a:pPr marL="12700">
              <a:lnSpc>
                <a:spcPct val="100000"/>
              </a:lnSpc>
              <a:spcBef>
                <a:spcPts val="100"/>
              </a:spcBef>
              <a:tabLst>
                <a:tab pos="7793355" algn="l"/>
              </a:tabLst>
            </a:pPr>
            <a:r>
              <a:rPr lang="en-US" sz="3200" spc="200" dirty="0">
                <a:latin typeface="Times New Roman" panose="02020603050405020304" pitchFamily="18" charset="0"/>
                <a:cs typeface="Times New Roman" panose="02020603050405020304" pitchFamily="18" charset="0"/>
              </a:rPr>
              <a:t>METHODOLOGIES</a:t>
            </a:r>
            <a:r>
              <a:rPr dirty="0"/>
              <a:t>	</a:t>
            </a:r>
          </a:p>
        </p:txBody>
      </p:sp>
      <p:sp>
        <p:nvSpPr>
          <p:cNvPr id="3" name="object 3"/>
          <p:cNvSpPr txBox="1"/>
          <p:nvPr/>
        </p:nvSpPr>
        <p:spPr>
          <a:xfrm>
            <a:off x="377824" y="787484"/>
            <a:ext cx="7806690" cy="4685898"/>
          </a:xfrm>
          <a:prstGeom prst="rect">
            <a:avLst/>
          </a:prstGeom>
        </p:spPr>
        <p:txBody>
          <a:bodyPr vert="horz" wrap="square" lIns="0" tIns="12700" rIns="0" bIns="0" rtlCol="0">
            <a:spAutoFit/>
          </a:bodyPr>
          <a:lstStyle/>
          <a:p>
            <a:pPr marL="12700">
              <a:lnSpc>
                <a:spcPct val="100000"/>
              </a:lnSpc>
              <a:spcBef>
                <a:spcPts val="100"/>
              </a:spcBef>
            </a:pPr>
            <a:endParaRPr lang="en-US" sz="2000" b="1" spc="-10" dirty="0">
              <a:solidFill>
                <a:srgbClr val="595959"/>
              </a:solidFill>
              <a:latin typeface="Times New Roman" panose="02020603050405020304" pitchFamily="18" charset="0"/>
              <a:cs typeface="Times New Roman" panose="02020603050405020304" pitchFamily="18" charset="0"/>
            </a:endParaRPr>
          </a:p>
          <a:p>
            <a:pPr marL="12700">
              <a:lnSpc>
                <a:spcPct val="100000"/>
              </a:lnSpc>
              <a:spcBef>
                <a:spcPts val="100"/>
              </a:spcBef>
            </a:pPr>
            <a:r>
              <a:rPr lang="en-US" sz="2000" b="1" spc="-10" dirty="0">
                <a:solidFill>
                  <a:srgbClr val="595959"/>
                </a:solidFill>
                <a:latin typeface="Times New Roman" panose="02020603050405020304" pitchFamily="18" charset="0"/>
                <a:cs typeface="Times New Roman" panose="02020603050405020304" pitchFamily="18" charset="0"/>
              </a:rPr>
              <a:t>CLIENT SIDE</a:t>
            </a:r>
            <a:r>
              <a:rPr sz="2000" b="1" spc="-10" dirty="0">
                <a:solidFill>
                  <a:srgbClr val="595959"/>
                </a:solidFill>
                <a:latin typeface="Times New Roman" panose="02020603050405020304" pitchFamily="18" charset="0"/>
                <a:cs typeface="Times New Roman" panose="02020603050405020304" pitchFamily="18" charset="0"/>
              </a:rPr>
              <a:t>:</a:t>
            </a:r>
            <a:r>
              <a:rPr lang="en-US" sz="2000" b="1" spc="-10" dirty="0">
                <a:solidFill>
                  <a:srgbClr val="595959"/>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373380" indent="-285750" algn="just">
              <a:lnSpc>
                <a:spcPct val="100000"/>
              </a:lnSpc>
              <a:spcBef>
                <a:spcPts val="1710"/>
              </a:spcBef>
              <a:buSzPct val="150000"/>
              <a:buFont typeface="Arial" panose="020B0604020202020204" pitchFamily="34" charset="0"/>
              <a:buChar char="•"/>
              <a:tabLst>
                <a:tab pos="469265" algn="l"/>
              </a:tabLst>
            </a:pPr>
            <a:r>
              <a:rPr lang="en-US" dirty="0">
                <a:latin typeface="Times New Roman" panose="02020603050405020304" pitchFamily="18" charset="0"/>
                <a:cs typeface="Times New Roman" panose="02020603050405020304" pitchFamily="18" charset="0"/>
              </a:rPr>
              <a:t>Client-Side Interrupt Handling: Configure the GPIO pin on the Raspberry Pi to  trigger an interrupt on a state change (e.g., falling edge). This interrupt is handled by the client _ driver.</a:t>
            </a:r>
          </a:p>
          <a:p>
            <a:pPr marL="469265" indent="-381635" algn="l">
              <a:spcBef>
                <a:spcPts val="1710"/>
              </a:spcBef>
              <a:buFont typeface="Arial MT"/>
              <a:buChar char="●"/>
              <a:tabLst>
                <a:tab pos="469265" algn="l"/>
              </a:tabLst>
            </a:pPr>
            <a:r>
              <a:rPr lang="en-US" dirty="0">
                <a:latin typeface="Times New Roman" panose="02020603050405020304" pitchFamily="18" charset="0"/>
                <a:cs typeface="Times New Roman" panose="02020603050405020304" pitchFamily="18" charset="0"/>
              </a:rPr>
              <a:t>User Input: When the interrupt is triggered, the client _ user program prompts the user to select an operation, such as turning the LED ON or OFF.</a:t>
            </a:r>
          </a:p>
          <a:p>
            <a:pPr marL="469265" indent="-381635" algn="l">
              <a:spcBef>
                <a:spcPts val="1710"/>
              </a:spcBef>
              <a:buFont typeface="Arial MT"/>
              <a:buChar char="●"/>
              <a:tabLst>
                <a:tab pos="469265" algn="l"/>
              </a:tabLst>
            </a:pPr>
            <a:r>
              <a:rPr lang="en-US" dirty="0">
                <a:latin typeface="Times New Roman" panose="02020603050405020304" pitchFamily="18" charset="0"/>
                <a:cs typeface="Times New Roman" panose="02020603050405020304" pitchFamily="18" charset="0"/>
              </a:rPr>
              <a:t> Data Transmission: The selected operation is transmitted from the client to the server using the TCP/IP protocol, with sockets facilitating reliable communication</a:t>
            </a:r>
          </a:p>
          <a:p>
            <a:pPr marL="469265" indent="-381635" algn="just">
              <a:spcBef>
                <a:spcPts val="1710"/>
              </a:spcBef>
              <a:buFont typeface="Arial MT"/>
              <a:buChar char="●"/>
              <a:tabLst>
                <a:tab pos="469265" algn="l"/>
              </a:tabLst>
            </a:pPr>
            <a:endParaRPr lang="en-US" sz="2800" dirty="0">
              <a:latin typeface="Times New Roman" panose="02020603050405020304" pitchFamily="18" charset="0"/>
              <a:cs typeface="Times New Roman" panose="02020603050405020304" pitchFamily="18" charset="0"/>
            </a:endParaRPr>
          </a:p>
          <a:p>
            <a:pPr marL="469265" indent="-381635">
              <a:lnSpc>
                <a:spcPct val="100000"/>
              </a:lnSpc>
              <a:spcBef>
                <a:spcPts val="1710"/>
              </a:spcBef>
              <a:buFont typeface="Arial MT"/>
              <a:buChar char="●"/>
              <a:tabLst>
                <a:tab pos="469265" algn="l"/>
              </a:tabLst>
            </a:pPr>
            <a:endParaRPr sz="2000" dirty="0">
              <a:latin typeface="Verdana"/>
              <a:cs typeface="Verdana"/>
            </a:endParaRPr>
          </a:p>
        </p:txBody>
      </p:sp>
      <p:grpSp>
        <p:nvGrpSpPr>
          <p:cNvPr id="4" name="object 4"/>
          <p:cNvGrpSpPr/>
          <p:nvPr/>
        </p:nvGrpSpPr>
        <p:grpSpPr>
          <a:xfrm>
            <a:off x="-4787" y="4987462"/>
            <a:ext cx="9153525" cy="161290"/>
            <a:chOff x="-4787" y="4987462"/>
            <a:chExt cx="9153525" cy="161290"/>
          </a:xfrm>
        </p:grpSpPr>
        <p:sp>
          <p:nvSpPr>
            <p:cNvPr id="5" name="object 5"/>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09"/>
              </a:srgbClr>
            </a:solidFill>
          </p:spPr>
          <p:txBody>
            <a:bodyPr wrap="square" lIns="0" tIns="0" rIns="0" bIns="0" rtlCol="0"/>
            <a:lstStyle/>
            <a:p>
              <a:endParaRPr/>
            </a:p>
          </p:txBody>
        </p:sp>
        <p:sp>
          <p:nvSpPr>
            <p:cNvPr id="6" name="object 6"/>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825" y="118921"/>
            <a:ext cx="7806690" cy="604520"/>
          </a:xfrm>
          <a:prstGeom prst="rect">
            <a:avLst/>
          </a:prstGeom>
        </p:spPr>
        <p:txBody>
          <a:bodyPr vert="horz" wrap="square" lIns="0" tIns="12700" rIns="0" bIns="0" rtlCol="0">
            <a:spAutoFit/>
          </a:bodyPr>
          <a:lstStyle/>
          <a:p>
            <a:pPr marL="12700">
              <a:lnSpc>
                <a:spcPct val="100000"/>
              </a:lnSpc>
              <a:spcBef>
                <a:spcPts val="100"/>
              </a:spcBef>
              <a:tabLst>
                <a:tab pos="7793355" algn="l"/>
              </a:tabLst>
            </a:pPr>
            <a:r>
              <a:rPr lang="en-US" sz="3200" spc="110" dirty="0">
                <a:latin typeface="Times New Roman" panose="02020603050405020304" pitchFamily="18" charset="0"/>
                <a:cs typeface="Times New Roman" panose="02020603050405020304" pitchFamily="18" charset="0"/>
              </a:rPr>
              <a:t>METHODOLOGIES</a:t>
            </a:r>
            <a:r>
              <a:rPr dirty="0"/>
              <a:t>	</a:t>
            </a:r>
          </a:p>
        </p:txBody>
      </p:sp>
      <p:sp>
        <p:nvSpPr>
          <p:cNvPr id="3" name="object 3"/>
          <p:cNvSpPr txBox="1"/>
          <p:nvPr/>
        </p:nvSpPr>
        <p:spPr>
          <a:xfrm>
            <a:off x="377825" y="791040"/>
            <a:ext cx="8128634" cy="2705869"/>
          </a:xfrm>
          <a:prstGeom prst="rect">
            <a:avLst/>
          </a:prstGeom>
        </p:spPr>
        <p:txBody>
          <a:bodyPr vert="horz" wrap="square" lIns="0" tIns="12700" rIns="0" bIns="0" rtlCol="0">
            <a:spAutoFit/>
          </a:bodyPr>
          <a:lstStyle/>
          <a:p>
            <a:pPr marL="12700">
              <a:lnSpc>
                <a:spcPct val="100000"/>
              </a:lnSpc>
              <a:spcBef>
                <a:spcPts val="100"/>
              </a:spcBef>
            </a:pPr>
            <a:endParaRPr lang="en-US" sz="2000" b="1" dirty="0">
              <a:solidFill>
                <a:srgbClr val="434343"/>
              </a:solidFill>
              <a:latin typeface="Times New Roman" panose="02020603050405020304" pitchFamily="18" charset="0"/>
              <a:cs typeface="Times New Roman" panose="02020603050405020304" pitchFamily="18" charset="0"/>
            </a:endParaRPr>
          </a:p>
          <a:p>
            <a:pPr marL="12700">
              <a:lnSpc>
                <a:spcPct val="100000"/>
              </a:lnSpc>
              <a:spcBef>
                <a:spcPts val="100"/>
              </a:spcBef>
            </a:pPr>
            <a:r>
              <a:rPr lang="en-US" sz="2000" b="1" dirty="0">
                <a:solidFill>
                  <a:srgbClr val="434343"/>
                </a:solidFill>
                <a:latin typeface="Times New Roman" panose="02020603050405020304" pitchFamily="18" charset="0"/>
                <a:cs typeface="Times New Roman" panose="02020603050405020304" pitchFamily="18" charset="0"/>
              </a:rPr>
              <a:t>SERVER SIDE:-</a:t>
            </a:r>
          </a:p>
          <a:p>
            <a:pPr marL="12700">
              <a:lnSpc>
                <a:spcPct val="100000"/>
              </a:lnSpc>
              <a:spcBef>
                <a:spcPts val="100"/>
              </a:spcBef>
            </a:pPr>
            <a:endParaRPr lang="en-US" sz="2000" b="1" dirty="0">
              <a:solidFill>
                <a:srgbClr val="434343"/>
              </a:solidFill>
              <a:latin typeface="Times New Roman" panose="02020603050405020304" pitchFamily="18" charset="0"/>
              <a:cs typeface="Times New Roman" panose="02020603050405020304" pitchFamily="18" charset="0"/>
            </a:endParaRPr>
          </a:p>
          <a:p>
            <a:pPr marL="355600" indent="-342900" algn="just">
              <a:lnSpc>
                <a:spcPct val="100000"/>
              </a:lnSpc>
              <a:spcBef>
                <a:spcPts val="1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Server Processing: The server _ user receives the data, processes the command, and sends it to the server _ driver.</a:t>
            </a:r>
          </a:p>
          <a:p>
            <a:pPr marL="12700">
              <a:lnSpc>
                <a:spcPct val="100000"/>
              </a:lnSpc>
              <a:spcBef>
                <a:spcPts val="100"/>
              </a:spcBef>
            </a:pPr>
            <a:endParaRPr lang="en-US" b="1" dirty="0">
              <a:solidFill>
                <a:srgbClr val="434343"/>
              </a:solidFill>
              <a:latin typeface="Times New Roman" panose="02020603050405020304" pitchFamily="18" charset="0"/>
              <a:cs typeface="Times New Roman" panose="02020603050405020304" pitchFamily="18" charset="0"/>
            </a:endParaRPr>
          </a:p>
          <a:p>
            <a:pPr marL="355600" indent="-342900" algn="just">
              <a:spcBef>
                <a:spcPts val="1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LED Control: The server _ driver updates the GPIO pin state to control the LED (turning it ON or OFF) based on the received command.</a:t>
            </a:r>
          </a:p>
          <a:p>
            <a:pPr marL="355600" indent="-342900">
              <a:lnSpc>
                <a:spcPct val="100000"/>
              </a:lnSpc>
              <a:spcBef>
                <a:spcPts val="100"/>
              </a:spcBef>
              <a:buFont typeface="Arial" panose="020B0604020202020204" pitchFamily="34" charset="0"/>
              <a:buChar char="•"/>
            </a:pPr>
            <a:endParaRPr sz="2000" dirty="0">
              <a:latin typeface="Tahoma"/>
              <a:cs typeface="Tahoma"/>
            </a:endParaRPr>
          </a:p>
        </p:txBody>
      </p:sp>
      <p:grpSp>
        <p:nvGrpSpPr>
          <p:cNvPr id="4" name="object 4"/>
          <p:cNvGrpSpPr/>
          <p:nvPr/>
        </p:nvGrpSpPr>
        <p:grpSpPr>
          <a:xfrm>
            <a:off x="-4787" y="4987462"/>
            <a:ext cx="9153525" cy="161290"/>
            <a:chOff x="-4787" y="4987462"/>
            <a:chExt cx="9153525" cy="161290"/>
          </a:xfrm>
        </p:grpSpPr>
        <p:sp>
          <p:nvSpPr>
            <p:cNvPr id="5" name="object 5"/>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09"/>
              </a:srgbClr>
            </a:solidFill>
          </p:spPr>
          <p:txBody>
            <a:bodyPr wrap="square" lIns="0" tIns="0" rIns="0" bIns="0" rtlCol="0"/>
            <a:lstStyle/>
            <a:p>
              <a:endParaRPr/>
            </a:p>
          </p:txBody>
        </p:sp>
        <p:sp>
          <p:nvSpPr>
            <p:cNvPr id="6" name="object 6"/>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0999" y="53721"/>
            <a:ext cx="7803515" cy="604520"/>
          </a:xfrm>
          <a:prstGeom prst="rect">
            <a:avLst/>
          </a:prstGeom>
        </p:spPr>
        <p:txBody>
          <a:bodyPr vert="horz" wrap="square" lIns="0" tIns="12700" rIns="0" bIns="0" rtlCol="0">
            <a:spAutoFit/>
          </a:bodyPr>
          <a:lstStyle/>
          <a:p>
            <a:pPr marL="12700">
              <a:lnSpc>
                <a:spcPct val="100000"/>
              </a:lnSpc>
              <a:spcBef>
                <a:spcPts val="100"/>
              </a:spcBef>
              <a:tabLst>
                <a:tab pos="7793355" algn="l"/>
              </a:tabLst>
            </a:pPr>
            <a:r>
              <a:rPr lang="en-US" sz="3200" spc="105" dirty="0">
                <a:latin typeface="Times New Roman" panose="02020603050405020304" pitchFamily="18" charset="0"/>
                <a:cs typeface="Times New Roman" panose="02020603050405020304" pitchFamily="18" charset="0"/>
              </a:rPr>
              <a:t>FLOW DIAGRAM</a:t>
            </a:r>
            <a:r>
              <a:rPr dirty="0"/>
              <a:t>	</a:t>
            </a:r>
          </a:p>
        </p:txBody>
      </p:sp>
      <p:pic>
        <p:nvPicPr>
          <p:cNvPr id="11" name="Content Placeholder 10">
            <a:extLst>
              <a:ext uri="{FF2B5EF4-FFF2-40B4-BE49-F238E27FC236}">
                <a16:creationId xmlns:a16="http://schemas.microsoft.com/office/drawing/2014/main" id="{63890710-C0B4-73CB-80E3-8DC4D0B4674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95400" y="819149"/>
            <a:ext cx="6248399" cy="3958917"/>
          </a:xfrm>
        </p:spPr>
      </p:pic>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6</a:t>
            </a:fld>
            <a:endParaRPr spc="-25" dirty="0"/>
          </a:p>
        </p:txBody>
      </p:sp>
      <p:grpSp>
        <p:nvGrpSpPr>
          <p:cNvPr id="4" name="object 4"/>
          <p:cNvGrpSpPr/>
          <p:nvPr/>
        </p:nvGrpSpPr>
        <p:grpSpPr>
          <a:xfrm>
            <a:off x="-4787" y="4987462"/>
            <a:ext cx="9153525" cy="161290"/>
            <a:chOff x="-4787" y="4987462"/>
            <a:chExt cx="9153525" cy="161290"/>
          </a:xfrm>
        </p:grpSpPr>
        <p:sp>
          <p:nvSpPr>
            <p:cNvPr id="5" name="object 5"/>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09"/>
              </a:srgbClr>
            </a:solidFill>
          </p:spPr>
          <p:txBody>
            <a:bodyPr wrap="square" lIns="0" tIns="0" rIns="0" bIns="0" rtlCol="0"/>
            <a:lstStyle/>
            <a:p>
              <a:endParaRPr/>
            </a:p>
          </p:txBody>
        </p:sp>
        <p:sp>
          <p:nvSpPr>
            <p:cNvPr id="6" name="object 6"/>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87" y="4987462"/>
            <a:ext cx="9153525" cy="161290"/>
            <a:chOff x="-4787" y="4987462"/>
            <a:chExt cx="9153525" cy="161290"/>
          </a:xfrm>
        </p:grpSpPr>
        <p:sp>
          <p:nvSpPr>
            <p:cNvPr id="3" name="object 3"/>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09"/>
              </a:srgbClr>
            </a:solidFill>
          </p:spPr>
          <p:txBody>
            <a:bodyPr wrap="square" lIns="0" tIns="0" rIns="0" bIns="0" rtlCol="0"/>
            <a:lstStyle/>
            <a:p>
              <a:endParaRPr/>
            </a:p>
          </p:txBody>
        </p:sp>
        <p:sp>
          <p:nvSpPr>
            <p:cNvPr id="4" name="object 4"/>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7793355" algn="l"/>
              </a:tabLst>
            </a:pPr>
            <a:r>
              <a:rPr sz="3200" spc="180" dirty="0">
                <a:latin typeface="Times New Roman" panose="02020603050405020304" pitchFamily="18" charset="0"/>
                <a:cs typeface="Times New Roman" panose="02020603050405020304" pitchFamily="18" charset="0"/>
              </a:rPr>
              <a:t>OUTPUT</a:t>
            </a:r>
            <a:r>
              <a:rPr sz="3200" spc="170" dirty="0">
                <a:latin typeface="Times New Roman" panose="02020603050405020304" pitchFamily="18" charset="0"/>
                <a:cs typeface="Times New Roman" panose="02020603050405020304" pitchFamily="18" charset="0"/>
              </a:rPr>
              <a:t> </a:t>
            </a:r>
            <a:r>
              <a:rPr sz="3200" spc="120" dirty="0">
                <a:latin typeface="Times New Roman" panose="02020603050405020304" pitchFamily="18" charset="0"/>
                <a:cs typeface="Times New Roman" panose="02020603050405020304" pitchFamily="18" charset="0"/>
              </a:rPr>
              <a:t>ACHEIVED</a:t>
            </a:r>
            <a:r>
              <a:rPr dirty="0"/>
              <a:t>	</a:t>
            </a:r>
          </a:p>
        </p:txBody>
      </p:sp>
      <p:pic>
        <p:nvPicPr>
          <p:cNvPr id="12" name="Content Placeholder 11">
            <a:extLst>
              <a:ext uri="{FF2B5EF4-FFF2-40B4-BE49-F238E27FC236}">
                <a16:creationId xmlns:a16="http://schemas.microsoft.com/office/drawing/2014/main" id="{09CAE9F4-DED6-B2CB-945C-D0FE6DDD9AB7}"/>
              </a:ext>
            </a:extLst>
          </p:cNvPr>
          <p:cNvPicPr>
            <a:picLocks noGrp="1" noChangeAspect="1"/>
          </p:cNvPicPr>
          <p:nvPr>
            <p:ph sz="half" idx="3"/>
          </p:nvPr>
        </p:nvPicPr>
        <p:blipFill>
          <a:blip r:embed="rId2" cstate="print">
            <a:extLst>
              <a:ext uri="{28A0092B-C50C-407E-A947-70E740481C1C}">
                <a14:useLocalDpi xmlns:a14="http://schemas.microsoft.com/office/drawing/2010/main" val="0"/>
              </a:ext>
            </a:extLst>
          </a:blip>
          <a:stretch>
            <a:fillRect/>
          </a:stretch>
        </p:blipFill>
        <p:spPr>
          <a:xfrm>
            <a:off x="1752600" y="819150"/>
            <a:ext cx="6019800" cy="3831151"/>
          </a:xfrm>
        </p:spPr>
      </p:pic>
      <p:sp>
        <p:nvSpPr>
          <p:cNvPr id="8" name="object 8"/>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87" y="4987462"/>
            <a:ext cx="9153525" cy="161290"/>
            <a:chOff x="-4787" y="4987462"/>
            <a:chExt cx="9153525" cy="161290"/>
          </a:xfrm>
        </p:grpSpPr>
        <p:sp>
          <p:nvSpPr>
            <p:cNvPr id="3" name="object 3"/>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09"/>
              </a:srgbClr>
            </a:solidFill>
          </p:spPr>
          <p:txBody>
            <a:bodyPr wrap="square" lIns="0" tIns="0" rIns="0" bIns="0" rtlCol="0"/>
            <a:lstStyle/>
            <a:p>
              <a:endParaRPr/>
            </a:p>
          </p:txBody>
        </p:sp>
        <p:sp>
          <p:nvSpPr>
            <p:cNvPr id="4" name="object 4"/>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7793355" algn="l"/>
              </a:tabLst>
            </a:pPr>
            <a:r>
              <a:rPr sz="3200" spc="120" dirty="0">
                <a:latin typeface="Times New Roman" panose="02020603050405020304" pitchFamily="18" charset="0"/>
                <a:cs typeface="Times New Roman" panose="02020603050405020304" pitchFamily="18" charset="0"/>
              </a:rPr>
              <a:t>CONCLUSION</a:t>
            </a:r>
            <a:r>
              <a:rPr dirty="0"/>
              <a:t>	</a:t>
            </a:r>
          </a:p>
        </p:txBody>
      </p:sp>
      <p:sp>
        <p:nvSpPr>
          <p:cNvPr id="7" name="object 7"/>
          <p:cNvSpPr txBox="1">
            <a:spLocks noGrp="1"/>
          </p:cNvSpPr>
          <p:nvPr>
            <p:ph type="sldNum" sz="quarter" idx="7"/>
          </p:nvPr>
        </p:nvSpPr>
        <p:spPr>
          <a:prstGeom prst="rect">
            <a:avLst/>
          </a:prstGeom>
        </p:spPr>
        <p:txBody>
          <a:bodyPr vert="horz" wrap="square" lIns="0" tIns="635" rIns="0" bIns="0" rtlCol="0">
            <a:spAutoFit/>
          </a:bodyPr>
          <a:lstStyle/>
          <a:p>
            <a:pPr marL="12700">
              <a:lnSpc>
                <a:spcPct val="100000"/>
              </a:lnSpc>
              <a:spcBef>
                <a:spcPts val="5"/>
              </a:spcBef>
            </a:pPr>
            <a:fld id="{81D60167-4931-47E6-BA6A-407CBD079E47}" type="slidenum">
              <a:rPr spc="-25" dirty="0"/>
              <a:t>8</a:t>
            </a:fld>
            <a:endParaRPr spc="-25" dirty="0"/>
          </a:p>
        </p:txBody>
      </p:sp>
      <p:sp>
        <p:nvSpPr>
          <p:cNvPr id="9" name="TextBox 8">
            <a:extLst>
              <a:ext uri="{FF2B5EF4-FFF2-40B4-BE49-F238E27FC236}">
                <a16:creationId xmlns:a16="http://schemas.microsoft.com/office/drawing/2014/main" id="{4658C44E-33C8-BD91-6683-87CD4BC387BD}"/>
              </a:ext>
            </a:extLst>
          </p:cNvPr>
          <p:cNvSpPr txBox="1"/>
          <p:nvPr/>
        </p:nvSpPr>
        <p:spPr>
          <a:xfrm>
            <a:off x="609600" y="1657350"/>
            <a:ext cx="7467600" cy="1477328"/>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 conclusion, the project successfully demonstrates how to control an LED using GPIO interrupts. An interrupt is triggered to initiate actions, and a user-space application communicates with the kernel to control the LED. This approach shows how hardware, the kernel, and software can collaborate to respond to events.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8090" y="1780794"/>
            <a:ext cx="5012055" cy="970280"/>
          </a:xfrm>
          <a:prstGeom prst="rect">
            <a:avLst/>
          </a:prstGeom>
        </p:spPr>
        <p:txBody>
          <a:bodyPr vert="horz" wrap="square" lIns="0" tIns="12700" rIns="0" bIns="0" rtlCol="0">
            <a:spAutoFit/>
          </a:bodyPr>
          <a:lstStyle/>
          <a:p>
            <a:pPr marL="12700">
              <a:lnSpc>
                <a:spcPct val="100000"/>
              </a:lnSpc>
              <a:spcBef>
                <a:spcPts val="100"/>
              </a:spcBef>
            </a:pPr>
            <a:r>
              <a:rPr sz="6200" u="none" spc="215" dirty="0"/>
              <a:t>THANK</a:t>
            </a:r>
            <a:r>
              <a:rPr sz="6200" u="none" spc="290" dirty="0"/>
              <a:t> </a:t>
            </a:r>
            <a:r>
              <a:rPr sz="6200" u="none" spc="140" dirty="0"/>
              <a:t>YOU</a:t>
            </a:r>
            <a:endParaRPr sz="6200"/>
          </a:p>
        </p:txBody>
      </p:sp>
      <p:grpSp>
        <p:nvGrpSpPr>
          <p:cNvPr id="3" name="object 3"/>
          <p:cNvGrpSpPr/>
          <p:nvPr/>
        </p:nvGrpSpPr>
        <p:grpSpPr>
          <a:xfrm>
            <a:off x="-4787" y="4987462"/>
            <a:ext cx="9153525" cy="161290"/>
            <a:chOff x="-4787" y="4987462"/>
            <a:chExt cx="9153525" cy="161290"/>
          </a:xfrm>
        </p:grpSpPr>
        <p:sp>
          <p:nvSpPr>
            <p:cNvPr id="4" name="object 4"/>
            <p:cNvSpPr/>
            <p:nvPr/>
          </p:nvSpPr>
          <p:spPr>
            <a:xfrm>
              <a:off x="-24" y="4992225"/>
              <a:ext cx="9144000" cy="151765"/>
            </a:xfrm>
            <a:custGeom>
              <a:avLst/>
              <a:gdLst/>
              <a:ahLst/>
              <a:cxnLst/>
              <a:rect l="l" t="t" r="r" b="b"/>
              <a:pathLst>
                <a:path w="9144000" h="151764">
                  <a:moveTo>
                    <a:pt x="9143999" y="151199"/>
                  </a:moveTo>
                  <a:lnTo>
                    <a:pt x="0" y="151199"/>
                  </a:lnTo>
                  <a:lnTo>
                    <a:pt x="0" y="0"/>
                  </a:lnTo>
                  <a:lnTo>
                    <a:pt x="9143999" y="0"/>
                  </a:lnTo>
                  <a:lnTo>
                    <a:pt x="9143999" y="151199"/>
                  </a:lnTo>
                  <a:close/>
                </a:path>
              </a:pathLst>
            </a:custGeom>
            <a:solidFill>
              <a:srgbClr val="83DAA1">
                <a:alpha val="84312"/>
              </a:srgbClr>
            </a:solidFill>
          </p:spPr>
          <p:txBody>
            <a:bodyPr wrap="square" lIns="0" tIns="0" rIns="0" bIns="0" rtlCol="0"/>
            <a:lstStyle/>
            <a:p>
              <a:endParaRPr/>
            </a:p>
          </p:txBody>
        </p:sp>
        <p:sp>
          <p:nvSpPr>
            <p:cNvPr id="5" name="object 5"/>
            <p:cNvSpPr/>
            <p:nvPr/>
          </p:nvSpPr>
          <p:spPr>
            <a:xfrm>
              <a:off x="-24" y="4992225"/>
              <a:ext cx="9144000" cy="151765"/>
            </a:xfrm>
            <a:custGeom>
              <a:avLst/>
              <a:gdLst/>
              <a:ahLst/>
              <a:cxnLst/>
              <a:rect l="l" t="t" r="r" b="b"/>
              <a:pathLst>
                <a:path w="9144000" h="151764">
                  <a:moveTo>
                    <a:pt x="0" y="0"/>
                  </a:moveTo>
                  <a:lnTo>
                    <a:pt x="9143999" y="0"/>
                  </a:lnTo>
                  <a:lnTo>
                    <a:pt x="9143999" y="151199"/>
                  </a:lnTo>
                  <a:lnTo>
                    <a:pt x="0" y="151199"/>
                  </a:lnTo>
                  <a:lnTo>
                    <a:pt x="0" y="0"/>
                  </a:lnTo>
                  <a:close/>
                </a:path>
              </a:pathLst>
            </a:custGeom>
            <a:ln w="9524">
              <a:solidFill>
                <a:srgbClr val="83DAA1"/>
              </a:solidFill>
            </a:ln>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TotalTime>
  <Words>409</Words>
  <Application>Microsoft Office PowerPoint</Application>
  <PresentationFormat>On-screen Show (16:9)</PresentationFormat>
  <Paragraphs>37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MT</vt:lpstr>
      <vt:lpstr>Tahoma</vt:lpstr>
      <vt:lpstr>Times New Roman</vt:lpstr>
      <vt:lpstr>Verdana</vt:lpstr>
      <vt:lpstr>Office Theme</vt:lpstr>
      <vt:lpstr>PowerPoint Presentation</vt:lpstr>
      <vt:lpstr>INTRODUCTION </vt:lpstr>
      <vt:lpstr>OBJECTIVES</vt:lpstr>
      <vt:lpstr>METHODOLOGIES </vt:lpstr>
      <vt:lpstr>METHODOLOGIES </vt:lpstr>
      <vt:lpstr>FLOW DIAGRAM </vt:lpstr>
      <vt:lpstr>OUTPUT ACHEIVED </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6</dc:title>
  <dc:creator>user</dc:creator>
  <cp:lastModifiedBy>user</cp:lastModifiedBy>
  <cp:revision>1</cp:revision>
  <dcterms:created xsi:type="dcterms:W3CDTF">2025-01-03T08:54:23Z</dcterms:created>
  <dcterms:modified xsi:type="dcterms:W3CDTF">2025-01-03T10:04:29Z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2025-01-03T00:00:00Z</vt:filetime>
  </property>
  <property fmtid="{D5CDD505-2E9C-101B-9397-08002B2CF9AE}" pid="3" name="Creator">
    <vt:lpwstr>Google</vt:lpwstr>
  </property>
  <property fmtid="{D5CDD505-2E9C-101B-9397-08002B2CF9AE}" pid="4" name="LastSaved">
    <vt:filetime>2025-01-03T00:00:00Z</vt:filetime>
  </property>
</Properties>
</file>