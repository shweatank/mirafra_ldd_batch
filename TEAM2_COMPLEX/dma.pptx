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y="5143500" cx="9144000"/>
  <p:notesSz cx="9144000" cy="5143500"/>
  <p:defaultTextStyle>
    <a:defPPr>
      <a:defRPr kern="0"/>
    </a:def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32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ctrTitle"/>
          </p:nvPr>
        </p:nvSpPr>
        <p:spPr>
          <a:xfrm>
            <a:off x="637833" y="1087373"/>
            <a:ext cx="7868333" cy="161036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230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582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500" i="0">
                <a:solidFill>
                  <a:srgbClr val="21212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58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230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589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lstStyle>
            <a:lvl1pPr>
              <a:defRPr b="0" sz="1500" i="0">
                <a:solidFill>
                  <a:srgbClr val="21212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590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1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92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230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621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22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23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24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25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230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627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28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29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03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04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177101" y="400298"/>
            <a:ext cx="6345649" cy="837632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230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199800" y="852595"/>
            <a:ext cx="8448675" cy="332740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500" i="0">
                <a:solidFill>
                  <a:srgbClr val="21212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/>
        </p:spPr>
        <p:txBody>
          <a:bodyPr bIns="0" lIns="0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5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hyperlink" Target="http://www.theguardian.com/news/datablog/2014/sep/26/europeans-multiple-languages-uk-ireland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object 2"/>
          <p:cNvSpPr txBox="1">
            <a:spLocks noGrp="1"/>
          </p:cNvSpPr>
          <p:nvPr>
            <p:ph type="ctrTitle"/>
          </p:nvPr>
        </p:nvSpPr>
        <p:spPr>
          <a:xfrm>
            <a:off x="637833" y="1087373"/>
            <a:ext cx="7868333" cy="15621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3206115" marL="3218180" marR="5080">
              <a:lnSpc>
                <a:spcPct val="100000"/>
              </a:lnSpc>
              <a:spcBef>
                <a:spcPts val="100"/>
              </a:spcBef>
            </a:pPr>
            <a:r>
              <a:rPr dirty="0" sz="5200"/>
              <a:t>Making</a:t>
            </a:r>
            <a:r>
              <a:rPr dirty="0" sz="5200" spc="-25"/>
              <a:t> </a:t>
            </a:r>
            <a:r>
              <a:rPr dirty="0" sz="5200"/>
              <a:t>Presentations</a:t>
            </a:r>
            <a:r>
              <a:rPr dirty="0" sz="5200" spc="-110"/>
              <a:t> </a:t>
            </a:r>
            <a:r>
              <a:rPr dirty="0" sz="5200" spc="-20"/>
              <a:t>That </a:t>
            </a:r>
            <a:r>
              <a:rPr dirty="0" sz="5200" spc="-10"/>
              <a:t>Stick</a:t>
            </a:r>
            <a:endParaRPr sz="5200"/>
          </a:p>
        </p:txBody>
      </p:sp>
      <p:sp>
        <p:nvSpPr>
          <p:cNvPr id="1048587" name="object 3" descr=""/>
          <p:cNvSpPr txBox="1"/>
          <p:nvPr/>
        </p:nvSpPr>
        <p:spPr>
          <a:xfrm>
            <a:off x="2127820" y="2894958"/>
            <a:ext cx="4885055" cy="39116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2400" spc="-17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guide</a:t>
            </a:r>
            <a:r>
              <a:rPr dirty="0" sz="2400" spc="-6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dirty="0" sz="24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Chip</a:t>
            </a:r>
            <a:r>
              <a:rPr dirty="0" sz="24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Heath</a:t>
            </a:r>
            <a:r>
              <a:rPr dirty="0" sz="24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24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Dan</a:t>
            </a:r>
            <a:r>
              <a:rPr dirty="0" sz="24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595959"/>
                </a:solidFill>
                <a:latin typeface="Arial"/>
                <a:cs typeface="Arial"/>
              </a:rPr>
              <a:t>Heath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097152" name="object 4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object 2"/>
          <p:cNvSpPr txBox="1">
            <a:spLocks noGrp="1"/>
          </p:cNvSpPr>
          <p:nvPr>
            <p:ph type="title"/>
          </p:nvPr>
        </p:nvSpPr>
        <p:spPr>
          <a:xfrm>
            <a:off x="182393" y="57277"/>
            <a:ext cx="3803015" cy="49784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3100">
                <a:latin typeface="Arial"/>
                <a:cs typeface="Arial"/>
              </a:rPr>
              <a:t>Introduction</a:t>
            </a:r>
            <a:r>
              <a:rPr b="1" dirty="0" sz="3100" spc="-40">
                <a:latin typeface="Arial"/>
                <a:cs typeface="Arial"/>
              </a:rPr>
              <a:t> </a:t>
            </a:r>
            <a:r>
              <a:rPr b="1" dirty="0" sz="3100">
                <a:latin typeface="Arial"/>
                <a:cs typeface="Arial"/>
              </a:rPr>
              <a:t>to</a:t>
            </a:r>
            <a:r>
              <a:rPr b="1" dirty="0" sz="3100" spc="-40">
                <a:latin typeface="Arial"/>
                <a:cs typeface="Arial"/>
              </a:rPr>
              <a:t> </a:t>
            </a:r>
            <a:r>
              <a:rPr b="1" dirty="0" sz="3100" spc="-25">
                <a:latin typeface="Arial"/>
                <a:cs typeface="Arial"/>
              </a:rPr>
              <a:t>DMA</a:t>
            </a:r>
            <a:endParaRPr sz="3100">
              <a:latin typeface="Arial"/>
              <a:cs typeface="Arial"/>
            </a:endParaRPr>
          </a:p>
        </p:txBody>
      </p:sp>
      <p:sp>
        <p:nvSpPr>
          <p:cNvPr id="1048594" name="object 3" descr=""/>
          <p:cNvSpPr txBox="1"/>
          <p:nvPr/>
        </p:nvSpPr>
        <p:spPr>
          <a:xfrm>
            <a:off x="73025" y="684527"/>
            <a:ext cx="8411845" cy="15970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Direct</a:t>
            </a:r>
            <a:r>
              <a:rPr b="1"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Memory</a:t>
            </a:r>
            <a:r>
              <a:rPr b="1" dirty="0" sz="1800" spc="-8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Access</a:t>
            </a:r>
            <a:r>
              <a:rPr b="1"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(DMA)</a:t>
            </a:r>
            <a:r>
              <a:rPr b="1" dirty="0" sz="18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allows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hardware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access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memory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without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needing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CPU.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Increases</a:t>
            </a:r>
            <a:r>
              <a:rPr b="1" dirty="0" sz="18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b="1" dirty="0" sz="1800" spc="-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efficiency</a:t>
            </a:r>
            <a:r>
              <a:rPr b="1" dirty="0" sz="1800" spc="-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b="1" dirty="0" sz="1800" spc="-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 spc="-10">
                <a:solidFill>
                  <a:srgbClr val="595959"/>
                </a:solidFill>
                <a:latin typeface="Arial"/>
                <a:cs typeface="Arial"/>
              </a:rPr>
              <a:t>speed.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Reduces</a:t>
            </a:r>
            <a:r>
              <a:rPr b="1"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CPU</a:t>
            </a:r>
            <a:r>
              <a:rPr b="1"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workload</a:t>
            </a:r>
            <a:r>
              <a:rPr b="1" dirty="0" sz="1800" spc="-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handling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transfers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directly.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097153" name="object 4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03424" y="2477950"/>
            <a:ext cx="7040764" cy="2665549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ah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bIns="0" lIns="0" rIns="0" rtlCol="0" tIns="0" wrap="square"/>
          <a:p/>
        </p:txBody>
      </p:sp>
      <p:pic>
        <p:nvPicPr>
          <p:cNvPr id="2097154" name="object 3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61706"/>
            <a:ext cx="9143999" cy="4818044"/>
          </a:xfrm>
          <a:prstGeom prst="rect"/>
        </p:spPr>
      </p:pic>
      <p:sp>
        <p:nvSpPr>
          <p:cNvPr id="1048596" name="object 4"/>
          <p:cNvSpPr txBox="1">
            <a:spLocks noGrp="1"/>
          </p:cNvSpPr>
          <p:nvPr>
            <p:ph type="title"/>
          </p:nvPr>
        </p:nvSpPr>
        <p:spPr>
          <a:xfrm>
            <a:off x="177101" y="400298"/>
            <a:ext cx="6345649" cy="620120"/>
          </a:xfrm>
          <a:prstGeom prst="rect"/>
        </p:spPr>
        <p:txBody>
          <a:bodyPr bIns="0" lIns="0" rIns="0" rtlCol="0" tIns="201020" vert="horz" wrap="square">
            <a:spAutoFit/>
          </a:bodyPr>
          <a:p>
            <a:pPr marL="791210">
              <a:lnSpc>
                <a:spcPct val="100000"/>
              </a:lnSpc>
              <a:spcBef>
                <a:spcPts val="100"/>
              </a:spcBef>
            </a:pPr>
            <a:r>
              <a:rPr b="1" dirty="0" sz="2800">
                <a:latin typeface="Arial"/>
                <a:cs typeface="Arial"/>
              </a:rPr>
              <a:t>How</a:t>
            </a:r>
            <a:r>
              <a:rPr b="1" dirty="0" sz="2800" spc="-85">
                <a:latin typeface="Arial"/>
                <a:cs typeface="Arial"/>
              </a:rPr>
              <a:t> </a:t>
            </a:r>
            <a:r>
              <a:rPr b="1" dirty="0" sz="2800">
                <a:latin typeface="Arial"/>
                <a:cs typeface="Arial"/>
              </a:rPr>
              <a:t>DMA</a:t>
            </a:r>
            <a:r>
              <a:rPr b="1" dirty="0" sz="2800" spc="-175">
                <a:latin typeface="Arial"/>
                <a:cs typeface="Arial"/>
              </a:rPr>
              <a:t> </a:t>
            </a:r>
            <a:r>
              <a:rPr b="1" dirty="0" sz="2800" spc="-10">
                <a:latin typeface="Arial"/>
                <a:cs typeface="Arial"/>
              </a:rPr>
              <a:t>Works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48597" name="object 5" descr=""/>
          <p:cNvSpPr txBox="1"/>
          <p:nvPr/>
        </p:nvSpPr>
        <p:spPr>
          <a:xfrm>
            <a:off x="956025" y="1340332"/>
            <a:ext cx="7003415" cy="2281556"/>
          </a:xfrm>
          <a:prstGeom prst="rect"/>
        </p:spPr>
        <p:txBody>
          <a:bodyPr bIns="0" lIns="0" rIns="0" rtlCol="0" tIns="10795" vert="horz" wrap="square">
            <a:spAutoFit/>
          </a:bodyPr>
          <a:p>
            <a:pPr marL="12700" marR="5080">
              <a:lnSpc>
                <a:spcPts val="2270"/>
              </a:lnSpc>
              <a:spcBef>
                <a:spcPts val="85"/>
              </a:spcBef>
            </a:pP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DMA</a:t>
            </a:r>
            <a:r>
              <a:rPr b="1" dirty="0" sz="1800" spc="-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controller</a:t>
            </a:r>
            <a:r>
              <a:rPr b="1"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manages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transfer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directly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devices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and 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memory.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b="1" dirty="0" sz="1800" spc="-10">
                <a:solidFill>
                  <a:srgbClr val="595959"/>
                </a:solidFill>
                <a:latin typeface="Arial"/>
                <a:cs typeface="Arial"/>
              </a:rPr>
              <a:t>Steps:</a:t>
            </a:r>
            <a:endParaRPr sz="1800">
              <a:latin typeface="Arial"/>
              <a:cs typeface="Arial"/>
            </a:endParaRPr>
          </a:p>
          <a:p>
            <a:pPr indent="-366395" marL="469265">
              <a:lnSpc>
                <a:spcPct val="100000"/>
              </a:lnSpc>
              <a:spcBef>
                <a:spcPts val="1310"/>
              </a:spcBef>
              <a:buFont typeface="Arial"/>
              <a:buChar char="●"/>
              <a:tabLst>
                <a:tab algn="l" pos="469265"/>
              </a:tabLst>
            </a:pP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CPU</a:t>
            </a:r>
            <a:r>
              <a:rPr b="1"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initiates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DMA</a:t>
            </a:r>
            <a:r>
              <a:rPr dirty="0" sz="1800" spc="-1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transfer.</a:t>
            </a:r>
            <a:endParaRPr sz="1800">
              <a:latin typeface="Arial"/>
              <a:cs typeface="Arial"/>
            </a:endParaRPr>
          </a:p>
          <a:p>
            <a:pPr indent="-366395" marL="469265">
              <a:lnSpc>
                <a:spcPct val="100000"/>
              </a:lnSpc>
              <a:spcBef>
                <a:spcPts val="105"/>
              </a:spcBef>
              <a:buFont typeface="Arial"/>
              <a:buChar char="●"/>
              <a:tabLst>
                <a:tab algn="l" pos="469265"/>
              </a:tabLst>
            </a:pP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DMA</a:t>
            </a:r>
            <a:r>
              <a:rPr b="1" dirty="0" sz="1800" spc="-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controller</a:t>
            </a:r>
            <a:r>
              <a:rPr b="1"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takes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bus.</a:t>
            </a:r>
            <a:endParaRPr sz="1800">
              <a:latin typeface="Arial"/>
              <a:cs typeface="Arial"/>
            </a:endParaRPr>
          </a:p>
          <a:p>
            <a:pPr indent="-366395" marL="469265">
              <a:lnSpc>
                <a:spcPct val="100000"/>
              </a:lnSpc>
              <a:spcBef>
                <a:spcPts val="110"/>
              </a:spcBef>
              <a:buChar char="●"/>
              <a:tabLst>
                <a:tab algn="l" pos="469265"/>
              </a:tabLst>
            </a:pP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800" spc="-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transfers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device</a:t>
            </a:r>
            <a:r>
              <a:rPr b="1"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memory.</a:t>
            </a:r>
            <a:endParaRPr sz="1800">
              <a:latin typeface="Arial"/>
              <a:cs typeface="Arial"/>
            </a:endParaRPr>
          </a:p>
          <a:p>
            <a:pPr indent="-366395" marL="469265">
              <a:lnSpc>
                <a:spcPct val="100000"/>
              </a:lnSpc>
              <a:spcBef>
                <a:spcPts val="105"/>
              </a:spcBef>
              <a:buFont typeface="Arial"/>
              <a:buChar char="●"/>
              <a:tabLst>
                <a:tab algn="l" pos="469265"/>
              </a:tabLst>
            </a:pPr>
            <a:r>
              <a:rPr b="1" dirty="0" sz="1800">
                <a:solidFill>
                  <a:srgbClr val="595959"/>
                </a:solidFill>
                <a:latin typeface="Arial"/>
                <a:cs typeface="Arial"/>
              </a:rPr>
              <a:t>CPU</a:t>
            </a:r>
            <a:r>
              <a:rPr b="1"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notified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transfer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complete.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object 2"/>
          <p:cNvSpPr txBox="1">
            <a:spLocks noGrp="1"/>
          </p:cNvSpPr>
          <p:nvPr>
            <p:ph type="title"/>
          </p:nvPr>
        </p:nvSpPr>
        <p:spPr>
          <a:xfrm>
            <a:off x="356125" y="768410"/>
            <a:ext cx="2654935" cy="5283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10"/>
              <a:t>Types</a:t>
            </a:r>
            <a:r>
              <a:rPr dirty="0" sz="3300" spc="-114"/>
              <a:t> </a:t>
            </a:r>
            <a:r>
              <a:rPr dirty="0" sz="3300"/>
              <a:t>of</a:t>
            </a:r>
            <a:r>
              <a:rPr dirty="0" sz="3300" spc="-110"/>
              <a:t> </a:t>
            </a:r>
            <a:r>
              <a:rPr dirty="0" sz="3300" spc="-25"/>
              <a:t>DMA</a:t>
            </a:r>
            <a:endParaRPr sz="3300"/>
          </a:p>
        </p:txBody>
      </p:sp>
      <p:sp>
        <p:nvSpPr>
          <p:cNvPr id="1048599" name="object 3" descr=""/>
          <p:cNvSpPr txBox="1"/>
          <p:nvPr/>
        </p:nvSpPr>
        <p:spPr>
          <a:xfrm>
            <a:off x="431368" y="1453843"/>
            <a:ext cx="7698740" cy="1911980"/>
          </a:xfrm>
          <a:prstGeom prst="rect"/>
        </p:spPr>
        <p:txBody>
          <a:bodyPr bIns="0" lIns="0" rIns="0" rtlCol="0" tIns="64135" vert="horz" wrap="square">
            <a:spAutoFit/>
          </a:bodyPr>
          <a:p>
            <a:pPr indent="-381635" marL="394335">
              <a:lnSpc>
                <a:spcPct val="100000"/>
              </a:lnSpc>
              <a:spcBef>
                <a:spcPts val="505"/>
              </a:spcBef>
              <a:buChar char="●"/>
              <a:tabLst>
                <a:tab algn="l" pos="394335"/>
              </a:tabLst>
            </a:pPr>
            <a:r>
              <a:rPr b="1" dirty="0" sz="2000" spc="-10">
                <a:latin typeface="Arial"/>
                <a:cs typeface="Arial"/>
              </a:rPr>
              <a:t>Modes:</a:t>
            </a:r>
            <a:endParaRPr sz="2000">
              <a:latin typeface="Arial"/>
              <a:cs typeface="Arial"/>
            </a:endParaRPr>
          </a:p>
          <a:p>
            <a:pPr indent="-366395" lvl="1" marL="851535">
              <a:lnSpc>
                <a:spcPct val="100000"/>
              </a:lnSpc>
              <a:spcBef>
                <a:spcPts val="370"/>
              </a:spcBef>
              <a:buClr>
                <a:srgbClr val="000000"/>
              </a:buClr>
              <a:buChar char="○"/>
              <a:tabLst>
                <a:tab algn="l" pos="851535"/>
              </a:tabLs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Burst</a:t>
            </a:r>
            <a:r>
              <a:rPr dirty="0" sz="18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Mode:</a:t>
            </a:r>
            <a:r>
              <a:rPr dirty="0" sz="18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Transfers</a:t>
            </a:r>
            <a:r>
              <a:rPr dirty="0" sz="18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entire</a:t>
            </a:r>
            <a:r>
              <a:rPr dirty="0" sz="18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blocks</a:t>
            </a:r>
            <a:r>
              <a:rPr dirty="0" sz="18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18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r>
              <a:rPr dirty="0" sz="18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at</a:t>
            </a:r>
            <a:r>
              <a:rPr dirty="0" sz="18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once.</a:t>
            </a:r>
            <a:endParaRPr sz="1800">
              <a:solidFill>
                <a:srgbClr val="000000"/>
              </a:solidFill>
              <a:latin typeface="Arial"/>
              <a:cs typeface="Arial"/>
            </a:endParaRPr>
          </a:p>
          <a:p>
            <a:pPr indent="-366395" lvl="1" marL="85153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Char char="○"/>
              <a:tabLst>
                <a:tab algn="l" pos="851535"/>
              </a:tabLs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Cycle</a:t>
            </a:r>
            <a:r>
              <a:rPr dirty="0" sz="18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Stealing:</a:t>
            </a:r>
            <a:r>
              <a:rPr dirty="0" sz="1800" spc="-2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Transfers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byte-by-</a:t>
            </a:r>
            <a:r>
              <a:rPr dirty="0" sz="1800">
                <a:latin typeface="Arial"/>
                <a:cs typeface="Arial"/>
              </a:rPr>
              <a:t>byte,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alternating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CPU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cycles.</a:t>
            </a:r>
            <a:endParaRPr sz="1800">
              <a:latin typeface="Arial"/>
              <a:cs typeface="Arial"/>
            </a:endParaRPr>
          </a:p>
          <a:p>
            <a:pPr indent="-366395" lvl="1" marL="85153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Char char="○"/>
              <a:tabLst>
                <a:tab algn="l" pos="851535"/>
              </a:tabLst>
            </a:pP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Transparent</a:t>
            </a:r>
            <a:r>
              <a:rPr dirty="0" sz="18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Mode:</a:t>
            </a:r>
            <a:r>
              <a:rPr dirty="0" sz="1800" spc="-3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Transfers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occur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only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when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CPU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idle.</a:t>
            </a:r>
            <a:endParaRPr sz="1800">
              <a:latin typeface="Arial"/>
              <a:cs typeface="Arial"/>
            </a:endParaRPr>
          </a:p>
          <a:p>
            <a:pPr indent="-367030" lvl="1" marL="851535" marR="496570">
              <a:lnSpc>
                <a:spcPct val="114999"/>
              </a:lnSpc>
              <a:buClr>
                <a:srgbClr val="000000"/>
              </a:buClr>
              <a:buChar char="○"/>
              <a:tabLst>
                <a:tab algn="l" pos="851535"/>
              </a:tabLs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Demand</a:t>
            </a:r>
            <a:r>
              <a:rPr dirty="0" sz="18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Mode:</a:t>
            </a:r>
            <a:r>
              <a:rPr dirty="0" sz="18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Waits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ready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signal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from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device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before </a:t>
            </a:r>
            <a:r>
              <a:rPr dirty="0" sz="1800">
                <a:latin typeface="Arial"/>
                <a:cs typeface="Arial"/>
              </a:rPr>
              <a:t>transferring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data.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object 2"/>
          <p:cNvSpPr txBox="1">
            <a:spLocks noGrp="1"/>
          </p:cNvSpPr>
          <p:nvPr>
            <p:ph type="title"/>
          </p:nvPr>
        </p:nvSpPr>
        <p:spPr>
          <a:xfrm>
            <a:off x="199800" y="400298"/>
            <a:ext cx="2384425" cy="31496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900" spc="-10">
                <a:latin typeface="Arial"/>
                <a:cs typeface="Arial"/>
              </a:rPr>
              <a:t>Advantages</a:t>
            </a:r>
            <a:r>
              <a:rPr b="1" dirty="0" sz="1900" spc="-45">
                <a:latin typeface="Arial"/>
                <a:cs typeface="Arial"/>
              </a:rPr>
              <a:t> </a:t>
            </a:r>
            <a:r>
              <a:rPr b="1" dirty="0" sz="1900">
                <a:latin typeface="Arial"/>
                <a:cs typeface="Arial"/>
              </a:rPr>
              <a:t>of</a:t>
            </a:r>
            <a:r>
              <a:rPr b="1" dirty="0" sz="1900" spc="-40">
                <a:latin typeface="Arial"/>
                <a:cs typeface="Arial"/>
              </a:rPr>
              <a:t> </a:t>
            </a:r>
            <a:r>
              <a:rPr b="1" dirty="0" sz="1900" spc="-20">
                <a:latin typeface="Arial"/>
                <a:cs typeface="Arial"/>
              </a:rPr>
              <a:t>DMA: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48601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bIns="0" lIns="0" rIns="0" rtlCol="0" tIns="12065" vert="horz" wrap="square">
            <a:spAutoFit/>
          </a:bodyPr>
          <a:p>
            <a:pPr indent="-346075" marL="469900" marR="436880">
              <a:lnSpc>
                <a:spcPct val="117300"/>
              </a:lnSpc>
              <a:spcBef>
                <a:spcPts val="95"/>
              </a:spcBef>
              <a:buClr>
                <a:srgbClr val="212121"/>
              </a:buClr>
              <a:buFont typeface="Arial"/>
              <a:buChar char="●"/>
              <a:tabLst>
                <a:tab algn="l" pos="469900"/>
              </a:tabLst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Efficiency:</a:t>
            </a:r>
            <a:r>
              <a:rPr b="1" dirty="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Reduces</a:t>
            </a:r>
            <a:r>
              <a:rPr dirty="0" spc="35"/>
              <a:t> </a:t>
            </a:r>
            <a:r>
              <a:rPr dirty="0"/>
              <a:t>CPU</a:t>
            </a:r>
            <a:r>
              <a:rPr dirty="0" spc="40"/>
              <a:t> </a:t>
            </a:r>
            <a:r>
              <a:rPr dirty="0"/>
              <a:t>load,</a:t>
            </a:r>
            <a:r>
              <a:rPr dirty="0" spc="35"/>
              <a:t> </a:t>
            </a:r>
            <a:r>
              <a:rPr dirty="0"/>
              <a:t>allowing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/>
              <a:t>CPU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40"/>
              <a:t> </a:t>
            </a:r>
            <a:r>
              <a:rPr dirty="0"/>
              <a:t>perform</a:t>
            </a:r>
            <a:r>
              <a:rPr dirty="0" spc="35"/>
              <a:t> </a:t>
            </a:r>
            <a:r>
              <a:rPr dirty="0"/>
              <a:t>other</a:t>
            </a:r>
            <a:r>
              <a:rPr dirty="0" spc="40"/>
              <a:t> </a:t>
            </a:r>
            <a:r>
              <a:rPr dirty="0"/>
              <a:t>tasks</a:t>
            </a:r>
            <a:r>
              <a:rPr dirty="0" spc="35"/>
              <a:t> </a:t>
            </a:r>
            <a:r>
              <a:rPr dirty="0"/>
              <a:t>while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 spc="-25"/>
              <a:t>DMA </a:t>
            </a:r>
            <a:r>
              <a:rPr dirty="0"/>
              <a:t>handles</a:t>
            </a:r>
            <a:r>
              <a:rPr dirty="0" spc="35"/>
              <a:t> </a:t>
            </a:r>
            <a:r>
              <a:rPr dirty="0"/>
              <a:t>data</a:t>
            </a:r>
            <a:r>
              <a:rPr dirty="0" spc="40"/>
              <a:t> </a:t>
            </a:r>
            <a:r>
              <a:rPr dirty="0" spc="-10"/>
              <a:t>transfer.</a:t>
            </a:r>
          </a:p>
          <a:p>
            <a:pPr indent="-346075" marL="469900" marR="5080">
              <a:lnSpc>
                <a:spcPct val="117300"/>
              </a:lnSpc>
              <a:buClr>
                <a:srgbClr val="212121"/>
              </a:buClr>
              <a:buFont typeface="Arial"/>
              <a:buChar char="●"/>
              <a:tabLst>
                <a:tab algn="l" pos="469900"/>
              </a:tabLst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Speed</a:t>
            </a:r>
            <a:r>
              <a:rPr b="1" dirty="0">
                <a:solidFill>
                  <a:srgbClr val="134F5C"/>
                </a:solidFill>
                <a:latin typeface="Arial"/>
                <a:cs typeface="Arial"/>
              </a:rPr>
              <a:t>:</a:t>
            </a:r>
            <a:r>
              <a:rPr b="1" dirty="0" spc="45">
                <a:solidFill>
                  <a:srgbClr val="134F5C"/>
                </a:solidFill>
                <a:latin typeface="Arial"/>
                <a:cs typeface="Arial"/>
              </a:rPr>
              <a:t> </a:t>
            </a:r>
            <a:r>
              <a:rPr dirty="0"/>
              <a:t>Faster</a:t>
            </a:r>
            <a:r>
              <a:rPr dirty="0" spc="50"/>
              <a:t> </a:t>
            </a:r>
            <a:r>
              <a:rPr dirty="0"/>
              <a:t>than</a:t>
            </a:r>
            <a:r>
              <a:rPr dirty="0" spc="45"/>
              <a:t> </a:t>
            </a:r>
            <a:r>
              <a:rPr dirty="0"/>
              <a:t>programmed</a:t>
            </a:r>
            <a:r>
              <a:rPr dirty="0" spc="50"/>
              <a:t> </a:t>
            </a:r>
            <a:r>
              <a:rPr dirty="0"/>
              <a:t>I/O</a:t>
            </a:r>
            <a:r>
              <a:rPr dirty="0" spc="50"/>
              <a:t> </a:t>
            </a:r>
            <a:r>
              <a:rPr dirty="0"/>
              <a:t>since</a:t>
            </a:r>
            <a:r>
              <a:rPr dirty="0" spc="45"/>
              <a:t> </a:t>
            </a:r>
            <a:r>
              <a:rPr dirty="0"/>
              <a:t>DMA</a:t>
            </a:r>
            <a:r>
              <a:rPr dirty="0" spc="-45"/>
              <a:t> </a:t>
            </a:r>
            <a:r>
              <a:rPr dirty="0"/>
              <a:t>transfers</a:t>
            </a:r>
            <a:r>
              <a:rPr dirty="0" spc="50"/>
              <a:t> </a:t>
            </a:r>
            <a:r>
              <a:rPr dirty="0"/>
              <a:t>data</a:t>
            </a:r>
            <a:r>
              <a:rPr dirty="0" spc="45"/>
              <a:t> </a:t>
            </a:r>
            <a:r>
              <a:rPr dirty="0"/>
              <a:t>directly</a:t>
            </a:r>
            <a:r>
              <a:rPr dirty="0" spc="50"/>
              <a:t> </a:t>
            </a:r>
            <a:r>
              <a:rPr dirty="0"/>
              <a:t>between</a:t>
            </a:r>
            <a:r>
              <a:rPr dirty="0" spc="50"/>
              <a:t> </a:t>
            </a:r>
            <a:r>
              <a:rPr dirty="0"/>
              <a:t>memory</a:t>
            </a:r>
            <a:r>
              <a:rPr dirty="0" spc="45"/>
              <a:t> </a:t>
            </a:r>
            <a:r>
              <a:rPr dirty="0" spc="-25"/>
              <a:t>and </a:t>
            </a:r>
            <a:r>
              <a:rPr dirty="0"/>
              <a:t>peripheral</a:t>
            </a:r>
            <a:r>
              <a:rPr dirty="0" spc="25"/>
              <a:t> </a:t>
            </a:r>
            <a:r>
              <a:rPr dirty="0" spc="-10"/>
              <a:t>devices.</a:t>
            </a:r>
          </a:p>
          <a:p>
            <a:pPr indent="-346075" marL="469900" marR="490855">
              <a:lnSpc>
                <a:spcPct val="117300"/>
              </a:lnSpc>
              <a:buClr>
                <a:srgbClr val="212121"/>
              </a:buClr>
              <a:buFont typeface="Arial"/>
              <a:buChar char="●"/>
              <a:tabLst>
                <a:tab algn="l" pos="469900"/>
              </a:tabLst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Resource</a:t>
            </a:r>
            <a:r>
              <a:rPr b="1" dirty="0" spc="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Management:</a:t>
            </a:r>
            <a:r>
              <a:rPr b="1" dirty="0" spc="50">
                <a:solidFill>
                  <a:srgbClr val="134F5C"/>
                </a:solidFill>
                <a:latin typeface="Arial"/>
                <a:cs typeface="Arial"/>
              </a:rPr>
              <a:t> </a:t>
            </a:r>
            <a:r>
              <a:rPr dirty="0"/>
              <a:t>Allows</a:t>
            </a:r>
            <a:r>
              <a:rPr dirty="0" spc="50"/>
              <a:t> </a:t>
            </a:r>
            <a:r>
              <a:rPr dirty="0"/>
              <a:t>simultaneous</a:t>
            </a:r>
            <a:r>
              <a:rPr dirty="0" spc="55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processing,</a:t>
            </a:r>
            <a:r>
              <a:rPr dirty="0" spc="55"/>
              <a:t> </a:t>
            </a:r>
            <a:r>
              <a:rPr dirty="0"/>
              <a:t>enabling</a:t>
            </a:r>
            <a:r>
              <a:rPr dirty="0" spc="55"/>
              <a:t> </a:t>
            </a:r>
            <a:r>
              <a:rPr dirty="0"/>
              <a:t>the</a:t>
            </a:r>
            <a:r>
              <a:rPr dirty="0" spc="50"/>
              <a:t> </a:t>
            </a:r>
            <a:r>
              <a:rPr dirty="0"/>
              <a:t>system</a:t>
            </a:r>
            <a:r>
              <a:rPr dirty="0" spc="55"/>
              <a:t> </a:t>
            </a:r>
            <a:r>
              <a:rPr dirty="0" spc="-25"/>
              <a:t>to </a:t>
            </a:r>
            <a:r>
              <a:rPr dirty="0"/>
              <a:t>handle</a:t>
            </a:r>
            <a:r>
              <a:rPr dirty="0" spc="35"/>
              <a:t> </a:t>
            </a:r>
            <a:r>
              <a:rPr dirty="0"/>
              <a:t>more</a:t>
            </a:r>
            <a:r>
              <a:rPr dirty="0" spc="35"/>
              <a:t> </a:t>
            </a:r>
            <a:r>
              <a:rPr dirty="0"/>
              <a:t>tasks</a:t>
            </a:r>
            <a:r>
              <a:rPr dirty="0" spc="40"/>
              <a:t> </a:t>
            </a:r>
            <a:r>
              <a:rPr dirty="0"/>
              <a:t>at</a:t>
            </a:r>
            <a:r>
              <a:rPr dirty="0" spc="35"/>
              <a:t> </a:t>
            </a:r>
            <a:r>
              <a:rPr dirty="0" spc="-10"/>
              <a:t>once.</a:t>
            </a: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b="1" dirty="0" sz="1800">
                <a:solidFill>
                  <a:srgbClr val="000000"/>
                </a:solidFill>
                <a:latin typeface="Arial"/>
                <a:cs typeface="Arial"/>
              </a:rPr>
              <a:t>Disadvantages</a:t>
            </a:r>
            <a:r>
              <a:rPr b="1" dirty="0" sz="18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1" dirty="0" sz="18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dirty="0" sz="1800" spc="-20">
                <a:solidFill>
                  <a:srgbClr val="000000"/>
                </a:solidFill>
                <a:latin typeface="Arial"/>
                <a:cs typeface="Arial"/>
              </a:rPr>
              <a:t>DMA:</a:t>
            </a:r>
            <a:endParaRPr sz="1800">
              <a:latin typeface="Arial"/>
              <a:cs typeface="Arial"/>
            </a:endParaRPr>
          </a:p>
          <a:p>
            <a:pPr indent="-345440" marL="469265">
              <a:lnSpc>
                <a:spcPct val="100000"/>
              </a:lnSpc>
              <a:spcBef>
                <a:spcPts val="1565"/>
              </a:spcBef>
              <a:buClr>
                <a:srgbClr val="212121"/>
              </a:buClr>
              <a:buFont typeface="Arial"/>
              <a:buChar char="●"/>
              <a:tabLst>
                <a:tab algn="l" pos="469265"/>
              </a:tabLst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Complexity</a:t>
            </a: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b="1" dirty="0" spc="25">
                <a:solidFill>
                  <a:srgbClr val="134F5C"/>
                </a:solidFill>
                <a:latin typeface="Arial"/>
                <a:cs typeface="Arial"/>
              </a:rPr>
              <a:t> </a:t>
            </a:r>
            <a:r>
              <a:rPr dirty="0"/>
              <a:t>More</a:t>
            </a:r>
            <a:r>
              <a:rPr dirty="0" spc="35"/>
              <a:t> </a:t>
            </a:r>
            <a:r>
              <a:rPr dirty="0"/>
              <a:t>intricate</a:t>
            </a:r>
            <a:r>
              <a:rPr dirty="0" spc="35"/>
              <a:t> </a:t>
            </a:r>
            <a:r>
              <a:rPr dirty="0"/>
              <a:t>design</a:t>
            </a:r>
            <a:r>
              <a:rPr dirty="0" spc="35"/>
              <a:t> </a:t>
            </a:r>
            <a:r>
              <a:rPr dirty="0"/>
              <a:t>is</a:t>
            </a:r>
            <a:r>
              <a:rPr dirty="0" spc="35"/>
              <a:t> </a:t>
            </a:r>
            <a:r>
              <a:rPr dirty="0"/>
              <a:t>required</a:t>
            </a:r>
            <a:r>
              <a:rPr dirty="0" spc="35"/>
              <a:t> </a:t>
            </a:r>
            <a:r>
              <a:rPr dirty="0"/>
              <a:t>for</a:t>
            </a:r>
            <a:r>
              <a:rPr dirty="0" spc="35"/>
              <a:t> </a:t>
            </a:r>
            <a:r>
              <a:rPr dirty="0"/>
              <a:t>implementing</a:t>
            </a:r>
            <a:r>
              <a:rPr dirty="0" spc="35"/>
              <a:t> </a:t>
            </a:r>
            <a:r>
              <a:rPr dirty="0" spc="-20"/>
              <a:t>DMA.</a:t>
            </a:r>
          </a:p>
          <a:p>
            <a:pPr indent="-345440" marL="469265">
              <a:lnSpc>
                <a:spcPct val="100000"/>
              </a:lnSpc>
              <a:spcBef>
                <a:spcPts val="310"/>
              </a:spcBef>
              <a:buClr>
                <a:srgbClr val="212121"/>
              </a:buClr>
              <a:buFont typeface="Arial"/>
              <a:buChar char="●"/>
              <a:tabLst>
                <a:tab algn="l" pos="469265"/>
              </a:tabLst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Cost:</a:t>
            </a:r>
            <a:r>
              <a:rPr b="1" dirty="0" spc="35">
                <a:solidFill>
                  <a:srgbClr val="134F5C"/>
                </a:solidFill>
                <a:latin typeface="Arial"/>
                <a:cs typeface="Arial"/>
              </a:rPr>
              <a:t> </a:t>
            </a:r>
            <a:r>
              <a:rPr dirty="0"/>
              <a:t>Additional</a:t>
            </a:r>
            <a:r>
              <a:rPr dirty="0" spc="40"/>
              <a:t> </a:t>
            </a:r>
            <a:r>
              <a:rPr dirty="0"/>
              <a:t>circuitry</a:t>
            </a:r>
            <a:r>
              <a:rPr dirty="0" spc="40"/>
              <a:t> </a:t>
            </a:r>
            <a:r>
              <a:rPr dirty="0"/>
              <a:t>is</a:t>
            </a:r>
            <a:r>
              <a:rPr dirty="0" spc="40"/>
              <a:t> </a:t>
            </a:r>
            <a:r>
              <a:rPr dirty="0"/>
              <a:t>needed</a:t>
            </a:r>
            <a:r>
              <a:rPr dirty="0" spc="40"/>
              <a:t> </a:t>
            </a:r>
            <a:r>
              <a:rPr dirty="0"/>
              <a:t>for</a:t>
            </a:r>
            <a:r>
              <a:rPr dirty="0" spc="40"/>
              <a:t> </a:t>
            </a:r>
            <a:r>
              <a:rPr dirty="0"/>
              <a:t>DMA,</a:t>
            </a:r>
            <a:r>
              <a:rPr dirty="0" spc="40"/>
              <a:t> </a:t>
            </a:r>
            <a:r>
              <a:rPr dirty="0"/>
              <a:t>which</a:t>
            </a:r>
            <a:r>
              <a:rPr dirty="0" spc="40"/>
              <a:t> </a:t>
            </a:r>
            <a:r>
              <a:rPr dirty="0"/>
              <a:t>adds</a:t>
            </a:r>
            <a:r>
              <a:rPr dirty="0" spc="40"/>
              <a:t> </a:t>
            </a:r>
            <a:r>
              <a:rPr dirty="0"/>
              <a:t>to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/>
              <a:t>system</a:t>
            </a:r>
            <a:r>
              <a:rPr dirty="0" spc="40"/>
              <a:t> </a:t>
            </a:r>
            <a:r>
              <a:rPr dirty="0" spc="-10"/>
              <a:t>cost.</a:t>
            </a:r>
          </a:p>
          <a:p>
            <a:pPr indent="-346075" marL="469900" marR="500380">
              <a:lnSpc>
                <a:spcPct val="117300"/>
              </a:lnSpc>
              <a:buClr>
                <a:srgbClr val="212121"/>
              </a:buClr>
              <a:buFont typeface="Arial"/>
              <a:buChar char="●"/>
              <a:tabLst>
                <a:tab algn="l" pos="469900"/>
              </a:tabLst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Conflicts:</a:t>
            </a:r>
            <a:r>
              <a:rPr b="1" dirty="0" spc="35">
                <a:solidFill>
                  <a:srgbClr val="134F5C"/>
                </a:solidFill>
                <a:latin typeface="Arial"/>
                <a:cs typeface="Arial"/>
              </a:rPr>
              <a:t> </a:t>
            </a:r>
            <a:r>
              <a:rPr dirty="0"/>
              <a:t>Increased</a:t>
            </a:r>
            <a:r>
              <a:rPr dirty="0" spc="40"/>
              <a:t> </a:t>
            </a:r>
            <a:r>
              <a:rPr dirty="0"/>
              <a:t>risk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0"/>
              <a:t> </a:t>
            </a:r>
            <a:r>
              <a:rPr dirty="0"/>
              <a:t>bus</a:t>
            </a:r>
            <a:r>
              <a:rPr dirty="0" spc="40"/>
              <a:t> </a:t>
            </a:r>
            <a:r>
              <a:rPr dirty="0"/>
              <a:t>contention</a:t>
            </a:r>
            <a:r>
              <a:rPr dirty="0" spc="40"/>
              <a:t> </a:t>
            </a:r>
            <a:r>
              <a:rPr dirty="0"/>
              <a:t>due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40"/>
              <a:t> </a:t>
            </a:r>
            <a:r>
              <a:rPr dirty="0"/>
              <a:t>potential</a:t>
            </a:r>
            <a:r>
              <a:rPr dirty="0" spc="40"/>
              <a:t> </a:t>
            </a:r>
            <a:r>
              <a:rPr dirty="0"/>
              <a:t>multiple</a:t>
            </a:r>
            <a:r>
              <a:rPr dirty="0" spc="40"/>
              <a:t> </a:t>
            </a:r>
            <a:r>
              <a:rPr dirty="0"/>
              <a:t>devices</a:t>
            </a:r>
            <a:r>
              <a:rPr dirty="0" spc="40"/>
              <a:t> </a:t>
            </a:r>
            <a:r>
              <a:rPr dirty="0" spc="-10"/>
              <a:t>attempting </a:t>
            </a:r>
            <a:r>
              <a:rPr dirty="0"/>
              <a:t>access</a:t>
            </a:r>
            <a:r>
              <a:rPr dirty="0" spc="50"/>
              <a:t> </a:t>
            </a:r>
            <a:r>
              <a:rPr dirty="0" spc="-10"/>
              <a:t>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object 2" descr=""/>
          <p:cNvGrpSpPr/>
          <p:nvPr/>
        </p:nvGrpSpPr>
        <p:grpSpPr>
          <a:xfrm>
            <a:off x="76200" y="-124"/>
            <a:ext cx="9067800" cy="5144135"/>
            <a:chOff x="76200" y="-124"/>
            <a:chExt cx="9067800" cy="5144135"/>
          </a:xfrm>
        </p:grpSpPr>
        <p:sp>
          <p:nvSpPr>
            <p:cNvPr id="1048605" name="object 3" descr=""/>
            <p:cNvSpPr/>
            <p:nvPr/>
          </p:nvSpPr>
          <p:spPr>
            <a:xfrm>
              <a:off x="4572000" y="-124"/>
              <a:ext cx="4572000" cy="5143500"/>
            </a:xfrm>
            <a:custGeom>
              <a:avLst/>
              <a:ah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5" name="object 4" descr="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76200" y="0"/>
              <a:ext cx="8991600" cy="5143499"/>
            </a:xfrm>
            <a:prstGeom prst="rect"/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object 2"/>
          <p:cNvSpPr txBox="1">
            <a:spLocks noGrp="1"/>
          </p:cNvSpPr>
          <p:nvPr>
            <p:ph type="title"/>
          </p:nvPr>
        </p:nvSpPr>
        <p:spPr>
          <a:xfrm>
            <a:off x="177101" y="400298"/>
            <a:ext cx="6345649" cy="455465"/>
          </a:xfrm>
          <a:prstGeom prst="rect"/>
        </p:spPr>
        <p:txBody>
          <a:bodyPr bIns="0" lIns="0" rIns="0" rtlCol="0" tIns="74465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2600">
                <a:latin typeface="Arial"/>
                <a:cs typeface="Arial"/>
              </a:rPr>
              <a:t>Key</a:t>
            </a:r>
            <a:r>
              <a:rPr b="1" dirty="0" sz="2600" spc="-100">
                <a:latin typeface="Arial"/>
                <a:cs typeface="Arial"/>
              </a:rPr>
              <a:t> </a:t>
            </a:r>
            <a:r>
              <a:rPr b="1" dirty="0" sz="2600">
                <a:latin typeface="Arial"/>
                <a:cs typeface="Arial"/>
              </a:rPr>
              <a:t>Features</a:t>
            </a:r>
            <a:r>
              <a:rPr b="1" dirty="0" sz="2600" spc="-100">
                <a:latin typeface="Arial"/>
                <a:cs typeface="Arial"/>
              </a:rPr>
              <a:t> </a:t>
            </a:r>
            <a:r>
              <a:rPr b="1" dirty="0" sz="2600">
                <a:latin typeface="Arial"/>
                <a:cs typeface="Arial"/>
              </a:rPr>
              <a:t>of</a:t>
            </a:r>
            <a:r>
              <a:rPr b="1" dirty="0" sz="2600" spc="-180">
                <a:latin typeface="Arial"/>
                <a:cs typeface="Arial"/>
              </a:rPr>
              <a:t> </a:t>
            </a:r>
            <a:r>
              <a:rPr b="1" dirty="0" sz="2600">
                <a:latin typeface="Arial"/>
                <a:cs typeface="Arial"/>
              </a:rPr>
              <a:t>Advanced</a:t>
            </a:r>
            <a:r>
              <a:rPr b="1" dirty="0" sz="2600" spc="-100">
                <a:latin typeface="Arial"/>
                <a:cs typeface="Arial"/>
              </a:rPr>
              <a:t> </a:t>
            </a:r>
            <a:r>
              <a:rPr b="1" dirty="0" sz="2600" spc="-25">
                <a:latin typeface="Arial"/>
                <a:cs typeface="Arial"/>
              </a:rPr>
              <a:t>DMA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48607" name="object 3" descr=""/>
          <p:cNvSpPr txBox="1"/>
          <p:nvPr/>
        </p:nvSpPr>
        <p:spPr>
          <a:xfrm>
            <a:off x="89875" y="1248448"/>
            <a:ext cx="8522970" cy="2816836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440690" marL="452755" marR="304800">
              <a:lnSpc>
                <a:spcPct val="114999"/>
              </a:lnSpc>
              <a:spcBef>
                <a:spcPts val="100"/>
              </a:spcBef>
              <a:buClr>
                <a:srgbClr val="000000"/>
              </a:buClr>
              <a:buFont typeface="Arial"/>
              <a:buAutoNum type="arabicPeriod"/>
              <a:tabLst>
                <a:tab algn="l" pos="452755"/>
              </a:tabLst>
            </a:pPr>
            <a:r>
              <a:rPr b="1" dirty="0" sz="2000" spc="-10">
                <a:solidFill>
                  <a:srgbClr val="595959"/>
                </a:solidFill>
                <a:latin typeface="Arial"/>
                <a:cs typeface="Arial"/>
              </a:rPr>
              <a:t>Scatter-</a:t>
            </a:r>
            <a:r>
              <a:rPr b="1" dirty="0" sz="2000">
                <a:solidFill>
                  <a:srgbClr val="595959"/>
                </a:solidFill>
                <a:latin typeface="Arial"/>
                <a:cs typeface="Arial"/>
              </a:rPr>
              <a:t>Gather</a:t>
            </a:r>
            <a:r>
              <a:rPr b="1" dirty="0" sz="20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2000">
                <a:solidFill>
                  <a:srgbClr val="595959"/>
                </a:solidFill>
                <a:latin typeface="Arial"/>
                <a:cs typeface="Arial"/>
              </a:rPr>
              <a:t>DMA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dirty="0" sz="2000" spc="-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Efficiently</a:t>
            </a:r>
            <a:r>
              <a:rPr dirty="0" sz="20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handles</a:t>
            </a:r>
            <a:r>
              <a:rPr dirty="0" sz="2000" spc="-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non-contiguous</a:t>
            </a:r>
            <a:r>
              <a:rPr dirty="0" sz="2000" spc="-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memory</a:t>
            </a:r>
            <a:r>
              <a:rPr dirty="0" sz="20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fragmented</a:t>
            </a:r>
            <a:r>
              <a:rPr dirty="0" sz="20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Arial"/>
                <a:cs typeface="Arial"/>
              </a:rPr>
              <a:t>scenarios.</a:t>
            </a:r>
            <a:endParaRPr sz="2000">
              <a:latin typeface="Arial"/>
              <a:cs typeface="Arial"/>
            </a:endParaRPr>
          </a:p>
          <a:p>
            <a:pPr indent="-440690" marL="452755" marR="796290">
              <a:lnSpc>
                <a:spcPct val="114999"/>
              </a:lnSpc>
              <a:buClr>
                <a:srgbClr val="000000"/>
              </a:buClr>
              <a:buFont typeface="Arial"/>
              <a:buAutoNum type="arabicPeriod"/>
              <a:tabLst>
                <a:tab algn="l" pos="452755"/>
              </a:tabLst>
            </a:pPr>
            <a:r>
              <a:rPr b="1" dirty="0" sz="2000">
                <a:solidFill>
                  <a:srgbClr val="595959"/>
                </a:solidFill>
                <a:latin typeface="Arial"/>
                <a:cs typeface="Arial"/>
              </a:rPr>
              <a:t>Chain</a:t>
            </a:r>
            <a:r>
              <a:rPr b="1" dirty="0" sz="2000" spc="-7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2000" spc="-20">
                <a:solidFill>
                  <a:srgbClr val="595959"/>
                </a:solidFill>
                <a:latin typeface="Arial"/>
                <a:cs typeface="Arial"/>
              </a:rPr>
              <a:t>Transfers</a:t>
            </a:r>
            <a:r>
              <a:rPr dirty="0" sz="2000" spc="-2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dirty="0" sz="2000" spc="-114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Automates</a:t>
            </a:r>
            <a:r>
              <a:rPr dirty="0" sz="20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Arial"/>
                <a:cs typeface="Arial"/>
              </a:rPr>
              <a:t>sequential</a:t>
            </a:r>
            <a:r>
              <a:rPr dirty="0" sz="2000" spc="-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transfers,</a:t>
            </a:r>
            <a:r>
              <a:rPr dirty="0" sz="20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reducing</a:t>
            </a:r>
            <a:r>
              <a:rPr dirty="0" sz="20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Arial"/>
                <a:cs typeface="Arial"/>
              </a:rPr>
              <a:t>CPU </a:t>
            </a:r>
            <a:r>
              <a:rPr dirty="0" sz="2000" spc="-10">
                <a:solidFill>
                  <a:srgbClr val="595959"/>
                </a:solidFill>
                <a:latin typeface="Arial"/>
                <a:cs typeface="Arial"/>
              </a:rPr>
              <a:t>involvement.</a:t>
            </a:r>
            <a:endParaRPr sz="2000">
              <a:latin typeface="Arial"/>
              <a:cs typeface="Arial"/>
            </a:endParaRPr>
          </a:p>
          <a:p>
            <a:pPr indent="-440690" marL="452755" marR="5080">
              <a:lnSpc>
                <a:spcPct val="114999"/>
              </a:lnSpc>
              <a:buClr>
                <a:srgbClr val="000000"/>
              </a:buClr>
              <a:buFont typeface="Arial"/>
              <a:buAutoNum type="arabicPeriod"/>
              <a:tabLst>
                <a:tab algn="l" pos="452755"/>
              </a:tabLst>
            </a:pPr>
            <a:r>
              <a:rPr b="1" dirty="0" sz="2000">
                <a:solidFill>
                  <a:srgbClr val="595959"/>
                </a:solidFill>
                <a:latin typeface="Arial"/>
                <a:cs typeface="Arial"/>
              </a:rPr>
              <a:t>Coherent</a:t>
            </a:r>
            <a:r>
              <a:rPr b="1" dirty="0" sz="2000" spc="-6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2000">
                <a:solidFill>
                  <a:srgbClr val="595959"/>
                </a:solidFill>
                <a:latin typeface="Arial"/>
                <a:cs typeface="Arial"/>
              </a:rPr>
              <a:t>Memory</a:t>
            </a:r>
            <a:r>
              <a:rPr b="1" dirty="0" sz="2000" spc="-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2000">
                <a:solidFill>
                  <a:srgbClr val="595959"/>
                </a:solidFill>
                <a:latin typeface="Arial"/>
                <a:cs typeface="Arial"/>
              </a:rPr>
              <a:t>DMA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dirty="0" sz="2000" spc="-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Maintains</a:t>
            </a:r>
            <a:r>
              <a:rPr dirty="0" sz="2000" spc="-6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memory</a:t>
            </a:r>
            <a:r>
              <a:rPr dirty="0" sz="2000" spc="-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consistency</a:t>
            </a:r>
            <a:r>
              <a:rPr dirty="0" sz="2000" spc="-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dirty="0" sz="2000" spc="-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Arial"/>
                <a:cs typeface="Arial"/>
              </a:rPr>
              <a:t>CPU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20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Arial"/>
                <a:cs typeface="Arial"/>
              </a:rPr>
              <a:t>memory.</a:t>
            </a:r>
            <a:endParaRPr sz="2000">
              <a:latin typeface="Arial"/>
              <a:cs typeface="Arial"/>
            </a:endParaRPr>
          </a:p>
          <a:p>
            <a:pPr indent="-440690" marL="452755" marR="128270">
              <a:lnSpc>
                <a:spcPct val="114999"/>
              </a:lnSpc>
              <a:buClr>
                <a:srgbClr val="000000"/>
              </a:buClr>
              <a:buFont typeface="Arial"/>
              <a:buAutoNum type="arabicPeriod"/>
              <a:tabLst>
                <a:tab algn="l" pos="452755"/>
              </a:tabLst>
            </a:pPr>
            <a:r>
              <a:rPr b="1" dirty="0" sz="2000">
                <a:solidFill>
                  <a:srgbClr val="595959"/>
                </a:solidFill>
                <a:latin typeface="Arial"/>
                <a:cs typeface="Arial"/>
              </a:rPr>
              <a:t>Prioritization</a:t>
            </a:r>
            <a:r>
              <a:rPr b="1" dirty="0" sz="2000" spc="-7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20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b="1" dirty="0" sz="2000" spc="-1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b="1" dirty="0" sz="2000">
                <a:solidFill>
                  <a:srgbClr val="595959"/>
                </a:solidFill>
                <a:latin typeface="Arial"/>
                <a:cs typeface="Arial"/>
              </a:rPr>
              <a:t>Arbitration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dirty="0" sz="2000" spc="-1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Assigns</a:t>
            </a:r>
            <a:r>
              <a:rPr dirty="0" sz="2000" spc="-6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priorities</a:t>
            </a:r>
            <a:r>
              <a:rPr dirty="0" sz="2000" spc="-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2000" spc="-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ensure</a:t>
            </a:r>
            <a:r>
              <a:rPr dirty="0" sz="2000" spc="-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critical</a:t>
            </a:r>
            <a:r>
              <a:rPr dirty="0" sz="2000" spc="-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Arial"/>
                <a:cs typeface="Arial"/>
              </a:rPr>
              <a:t>task </a:t>
            </a:r>
            <a:r>
              <a:rPr dirty="0" sz="2000" spc="-10">
                <a:solidFill>
                  <a:srgbClr val="595959"/>
                </a:solidFill>
                <a:latin typeface="Arial"/>
                <a:cs typeface="Arial"/>
              </a:rPr>
              <a:t>servicing</a:t>
            </a:r>
            <a:r>
              <a:rPr dirty="0" sz="2000" lang="en-US" spc="-1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object 2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213249" y="0"/>
            <a:ext cx="4152150" cy="5098501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object 2" descr=""/>
          <p:cNvSpPr txBox="1"/>
          <p:nvPr/>
        </p:nvSpPr>
        <p:spPr>
          <a:xfrm>
            <a:off x="613108" y="22723"/>
            <a:ext cx="467359" cy="31496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374015" marL="386715">
              <a:lnSpc>
                <a:spcPct val="100000"/>
              </a:lnSpc>
              <a:spcBef>
                <a:spcPts val="100"/>
              </a:spcBef>
              <a:buChar char="●"/>
              <a:tabLst>
                <a:tab algn="l" pos="386715"/>
              </a:tabLst>
            </a:pPr>
            <a:r>
              <a:rPr dirty="0" sz="1900" spc="-50">
                <a:solidFill>
                  <a:srgbClr val="374151"/>
                </a:solidFill>
                <a:latin typeface="Arial"/>
                <a:cs typeface="Arial"/>
              </a:rPr>
              <a:t>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48609" name="object 3" descr=""/>
          <p:cNvSpPr txBox="1"/>
          <p:nvPr/>
        </p:nvSpPr>
        <p:spPr>
          <a:xfrm>
            <a:off x="186562" y="2856030"/>
            <a:ext cx="140970" cy="2540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2097157" name="object 4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268750" y="0"/>
            <a:ext cx="3865475" cy="514350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 descr=""/>
          <p:cNvSpPr txBox="1"/>
          <p:nvPr/>
        </p:nvSpPr>
        <p:spPr>
          <a:xfrm>
            <a:off x="899199" y="170981"/>
            <a:ext cx="5002530" cy="247015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//</a:t>
            </a:r>
            <a:r>
              <a:rPr dirty="0" sz="1400" spc="-20">
                <a:latin typeface="Arial"/>
                <a:cs typeface="Arial"/>
              </a:rPr>
              <a:t> DMA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Control</a:t>
            </a:r>
            <a:r>
              <a:rPr dirty="0" sz="1400" spc="-10">
                <a:latin typeface="Arial"/>
                <a:cs typeface="Arial"/>
              </a:rPr>
              <a:t> Block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"/>
              <a:cs typeface="Arial"/>
            </a:endParaRPr>
          </a:p>
          <a:p>
            <a:pPr marL="61594">
              <a:lnSpc>
                <a:spcPct val="100000"/>
              </a:lnSpc>
            </a:pPr>
            <a:r>
              <a:rPr b="1" dirty="0" sz="1400">
                <a:latin typeface="Arial"/>
                <a:cs typeface="Arial"/>
              </a:rPr>
              <a:t>struct</a:t>
            </a:r>
            <a:r>
              <a:rPr b="1"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dma_cb</a:t>
            </a:r>
            <a:endParaRPr sz="1400">
              <a:latin typeface="Arial"/>
              <a:cs typeface="Arial"/>
            </a:endParaRPr>
          </a:p>
          <a:p>
            <a:pPr marL="61594">
              <a:lnSpc>
                <a:spcPct val="100000"/>
              </a:lnSpc>
            </a:pPr>
            <a:r>
              <a:rPr b="1" dirty="0" sz="1400" spc="-5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indent="-49530" marL="61594" marR="200850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uint32_t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b="1" dirty="0" sz="1400">
                <a:latin typeface="Arial"/>
                <a:cs typeface="Arial"/>
              </a:rPr>
              <a:t>ti</a:t>
            </a:r>
            <a:r>
              <a:rPr dirty="0" sz="1400">
                <a:latin typeface="Arial"/>
                <a:cs typeface="Arial"/>
              </a:rPr>
              <a:t>;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//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Transfer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information </a:t>
            </a:r>
            <a:endParaRPr sz="1400">
              <a:latin typeface="Arial"/>
              <a:cs typeface="Arial"/>
            </a:endParaRPr>
          </a:p>
          <a:p>
            <a:pPr indent="-49530" marL="61594" marR="200850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uint32_t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b="1" dirty="0" sz="1400">
                <a:latin typeface="Arial"/>
                <a:cs typeface="Arial"/>
              </a:rPr>
              <a:t>src_addr</a:t>
            </a:r>
            <a:r>
              <a:rPr dirty="0" sz="1400">
                <a:latin typeface="Arial"/>
                <a:cs typeface="Arial"/>
              </a:rPr>
              <a:t>;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//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Source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address</a:t>
            </a:r>
            <a:endParaRPr sz="1400">
              <a:latin typeface="Arial"/>
              <a:cs typeface="Arial"/>
            </a:endParaRPr>
          </a:p>
          <a:p>
            <a:pPr marL="12700" marR="163322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uint32_t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b="1" dirty="0" sz="1400">
                <a:latin typeface="Arial"/>
                <a:cs typeface="Arial"/>
              </a:rPr>
              <a:t>dest_addr</a:t>
            </a:r>
            <a:r>
              <a:rPr dirty="0" sz="1400">
                <a:latin typeface="Arial"/>
                <a:cs typeface="Arial"/>
              </a:rPr>
              <a:t>;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//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Destination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address</a:t>
            </a:r>
            <a:endParaRPr sz="1400">
              <a:latin typeface="Arial"/>
              <a:cs typeface="Arial"/>
            </a:endParaRPr>
          </a:p>
          <a:p>
            <a:pPr marL="12700" marR="163322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uint32_t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b="1" dirty="0" sz="1400">
                <a:latin typeface="Arial"/>
                <a:cs typeface="Arial"/>
              </a:rPr>
              <a:t>length</a:t>
            </a:r>
            <a:r>
              <a:rPr dirty="0" sz="1400">
                <a:latin typeface="Arial"/>
                <a:cs typeface="Arial"/>
              </a:rPr>
              <a:t>;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//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Transfer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length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uint32_t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b="1" dirty="0" sz="1400">
                <a:latin typeface="Arial"/>
                <a:cs typeface="Arial"/>
              </a:rPr>
              <a:t>stride</a:t>
            </a:r>
            <a:r>
              <a:rPr dirty="0" sz="1400">
                <a:latin typeface="Arial"/>
                <a:cs typeface="Arial"/>
              </a:rPr>
              <a:t>;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//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Stride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(set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0)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uint32_t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b="1" dirty="0" sz="1400">
                <a:latin typeface="Arial"/>
                <a:cs typeface="Arial"/>
              </a:rPr>
              <a:t>next_cb</a:t>
            </a:r>
            <a:r>
              <a:rPr dirty="0" sz="1400">
                <a:latin typeface="Arial"/>
                <a:cs typeface="Arial"/>
              </a:rPr>
              <a:t>;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//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Next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control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block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(set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0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chaining) </a:t>
            </a:r>
            <a:r>
              <a:rPr dirty="0" sz="1400">
                <a:latin typeface="Arial"/>
                <a:cs typeface="Arial"/>
              </a:rPr>
              <a:t>uint32_t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b="1" dirty="0" sz="1400">
                <a:latin typeface="Arial"/>
                <a:cs typeface="Arial"/>
              </a:rPr>
              <a:t>padding[2]</a:t>
            </a:r>
            <a:r>
              <a:rPr dirty="0" sz="1400">
                <a:latin typeface="Arial"/>
                <a:cs typeface="Arial"/>
              </a:rPr>
              <a:t>;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//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Padding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make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32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bytes</a:t>
            </a:r>
            <a:endParaRPr sz="1400">
              <a:latin typeface="Arial"/>
              <a:cs typeface="Arial"/>
            </a:endParaRPr>
          </a:p>
          <a:p>
            <a:pPr marL="61594">
              <a:lnSpc>
                <a:spcPts val="1680"/>
              </a:lnSpc>
            </a:pPr>
            <a:r>
              <a:rPr b="1" dirty="0" sz="1400" spc="-25">
                <a:latin typeface="Arial"/>
                <a:cs typeface="Arial"/>
              </a:rPr>
              <a:t>};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object 2"/>
          <p:cNvSpPr txBox="1">
            <a:spLocks noGrp="1"/>
          </p:cNvSpPr>
          <p:nvPr>
            <p:ph type="title"/>
          </p:nvPr>
        </p:nvSpPr>
        <p:spPr>
          <a:xfrm>
            <a:off x="116375" y="211271"/>
            <a:ext cx="4170045" cy="26924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600">
                <a:latin typeface="Arial"/>
                <a:cs typeface="Arial"/>
              </a:rPr>
              <a:t>Overview</a:t>
            </a:r>
            <a:r>
              <a:rPr b="1" dirty="0" sz="1600" spc="-40">
                <a:latin typeface="Arial"/>
                <a:cs typeface="Arial"/>
              </a:rPr>
              <a:t> </a:t>
            </a:r>
            <a:r>
              <a:rPr b="1" dirty="0" sz="1600">
                <a:latin typeface="Arial"/>
                <a:cs typeface="Arial"/>
              </a:rPr>
              <a:t>of</a:t>
            </a:r>
            <a:r>
              <a:rPr b="1" dirty="0" sz="1600" spc="-35">
                <a:latin typeface="Arial"/>
                <a:cs typeface="Arial"/>
              </a:rPr>
              <a:t> </a:t>
            </a:r>
            <a:r>
              <a:rPr b="1" dirty="0" sz="1600">
                <a:latin typeface="Arial"/>
                <a:cs typeface="Arial"/>
              </a:rPr>
              <a:t>Registers</a:t>
            </a:r>
            <a:r>
              <a:rPr b="1" dirty="0" sz="1600" spc="-35">
                <a:latin typeface="Arial"/>
                <a:cs typeface="Arial"/>
              </a:rPr>
              <a:t> </a:t>
            </a:r>
            <a:r>
              <a:rPr b="1" dirty="0" sz="1600">
                <a:latin typeface="Arial"/>
                <a:cs typeface="Arial"/>
              </a:rPr>
              <a:t>in</a:t>
            </a:r>
            <a:r>
              <a:rPr b="1" dirty="0" sz="1600" spc="-35">
                <a:latin typeface="Arial"/>
                <a:cs typeface="Arial"/>
              </a:rPr>
              <a:t> </a:t>
            </a:r>
            <a:r>
              <a:rPr b="1" dirty="0" sz="1600" spc="-30">
                <a:latin typeface="Arial"/>
                <a:cs typeface="Arial"/>
              </a:rPr>
              <a:t>UART-</a:t>
            </a:r>
            <a:r>
              <a:rPr b="1" dirty="0" sz="1600">
                <a:latin typeface="Arial"/>
                <a:cs typeface="Arial"/>
              </a:rPr>
              <a:t>DMA</a:t>
            </a:r>
            <a:r>
              <a:rPr b="1" dirty="0" sz="1600" spc="-95">
                <a:latin typeface="Arial"/>
                <a:cs typeface="Arial"/>
              </a:rPr>
              <a:t> </a:t>
            </a:r>
            <a:r>
              <a:rPr b="1" dirty="0" sz="1600" spc="-10">
                <a:latin typeface="Arial"/>
                <a:cs typeface="Arial"/>
              </a:rPr>
              <a:t>Driver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48612" name="object 3" descr=""/>
          <p:cNvSpPr txBox="1"/>
          <p:nvPr/>
        </p:nvSpPr>
        <p:spPr>
          <a:xfrm>
            <a:off x="116375" y="646627"/>
            <a:ext cx="5558790" cy="312166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100">
                <a:latin typeface="Arial"/>
                <a:cs typeface="Arial"/>
              </a:rPr>
              <a:t>UART</a:t>
            </a:r>
            <a:r>
              <a:rPr b="1" dirty="0" sz="1100" spc="-55">
                <a:latin typeface="Arial"/>
                <a:cs typeface="Arial"/>
              </a:rPr>
              <a:t> </a:t>
            </a:r>
            <a:r>
              <a:rPr b="1" dirty="0" sz="1100" spc="-10">
                <a:latin typeface="Arial"/>
                <a:cs typeface="Arial"/>
              </a:rPr>
              <a:t>Registers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"/>
              <a:cs typeface="Arial"/>
            </a:endParaRPr>
          </a:p>
          <a:p>
            <a:pPr indent="-312420" marL="469265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469265"/>
              </a:tabLst>
            </a:pPr>
            <a:r>
              <a:rPr b="1" dirty="0" sz="1100" spc="-20">
                <a:solidFill>
                  <a:srgbClr val="000000"/>
                </a:solidFill>
                <a:latin typeface="Courier New"/>
                <a:cs typeface="Courier New"/>
              </a:rPr>
              <a:t>UART_DR_OFFSET</a:t>
            </a:r>
            <a:r>
              <a:rPr b="1" dirty="0" sz="1100" spc="-31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1" dirty="0" sz="1100">
                <a:latin typeface="Arial"/>
                <a:cs typeface="Arial"/>
              </a:rPr>
              <a:t>(Data</a:t>
            </a:r>
            <a:r>
              <a:rPr b="1" dirty="0" sz="1100" spc="45">
                <a:latin typeface="Arial"/>
                <a:cs typeface="Arial"/>
              </a:rPr>
              <a:t> </a:t>
            </a:r>
            <a:r>
              <a:rPr b="1" dirty="0" sz="1100" spc="-10">
                <a:latin typeface="Arial"/>
                <a:cs typeface="Arial"/>
              </a:rPr>
              <a:t>Register)</a:t>
            </a:r>
            <a:endParaRPr sz="1100">
              <a:latin typeface="Arial"/>
              <a:cs typeface="Arial"/>
            </a:endParaRPr>
          </a:p>
          <a:p>
            <a:pPr indent="-312420" lvl="1" marL="926465">
              <a:lnSpc>
                <a:spcPct val="100000"/>
              </a:lnSpc>
              <a:spcBef>
                <a:spcPts val="200"/>
              </a:spcBef>
              <a:buFont typeface="Arial"/>
              <a:buChar char="○"/>
              <a:tabLst>
                <a:tab algn="l" pos="926465"/>
              </a:tabLst>
            </a:pPr>
            <a:r>
              <a:rPr b="1" dirty="0" sz="1100" spc="-10">
                <a:latin typeface="Arial"/>
                <a:cs typeface="Arial"/>
              </a:rPr>
              <a:t>Purpose</a:t>
            </a:r>
            <a:r>
              <a:rPr dirty="0" sz="1100" spc="-10">
                <a:latin typeface="Arial"/>
                <a:cs typeface="Arial"/>
              </a:rPr>
              <a:t>: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Stores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UART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transmission/reception.</a:t>
            </a:r>
            <a:endParaRPr sz="1100">
              <a:latin typeface="Arial"/>
              <a:cs typeface="Arial"/>
            </a:endParaRPr>
          </a:p>
          <a:p>
            <a:pPr indent="-312420" lvl="1" marL="926465">
              <a:lnSpc>
                <a:spcPct val="100000"/>
              </a:lnSpc>
              <a:spcBef>
                <a:spcPts val="200"/>
              </a:spcBef>
              <a:buFont typeface="Arial"/>
              <a:buChar char="○"/>
              <a:tabLst>
                <a:tab algn="l" pos="926465"/>
              </a:tabLst>
            </a:pPr>
            <a:r>
              <a:rPr b="1" dirty="0" sz="1100" spc="-10">
                <a:latin typeface="Arial"/>
                <a:cs typeface="Arial"/>
              </a:rPr>
              <a:t>Function</a:t>
            </a:r>
            <a:r>
              <a:rPr dirty="0" sz="1100" spc="-10">
                <a:latin typeface="Arial"/>
                <a:cs typeface="Arial"/>
              </a:rPr>
              <a:t>: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transferred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to/from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register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during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UART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operations.</a:t>
            </a:r>
            <a:endParaRPr sz="1100">
              <a:latin typeface="Arial"/>
              <a:cs typeface="Arial"/>
            </a:endParaRPr>
          </a:p>
          <a:p>
            <a:pPr indent="-312420" marL="469265">
              <a:lnSpc>
                <a:spcPct val="100000"/>
              </a:lnSpc>
              <a:spcBef>
                <a:spcPts val="195"/>
              </a:spcBef>
              <a:buClr>
                <a:srgbClr val="000000"/>
              </a:buClr>
              <a:buFont typeface="Arial"/>
              <a:buChar char="●"/>
              <a:tabLst>
                <a:tab algn="l" pos="469265"/>
              </a:tabLst>
            </a:pPr>
            <a:r>
              <a:rPr b="1" dirty="0" sz="1100" spc="-20">
                <a:solidFill>
                  <a:srgbClr val="000000"/>
                </a:solidFill>
                <a:latin typeface="Courier New"/>
                <a:cs typeface="Courier New"/>
              </a:rPr>
              <a:t>UART</a:t>
            </a:r>
            <a:r>
              <a:rPr b="1" dirty="0" sz="1100" spc="-20">
                <a:solidFill>
                  <a:srgbClr val="000000"/>
                </a:solidFill>
                <a:latin typeface="Courier New"/>
                <a:cs typeface="Courier New"/>
              </a:rPr>
              <a:t>_DMACR_OFFSET</a:t>
            </a:r>
            <a:r>
              <a:rPr b="1" dirty="0" sz="1100" spc="-34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1" dirty="0" sz="1100" spc="-1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b="1" dirty="0" sz="1100" spc="-10">
                <a:latin typeface="Arial"/>
                <a:cs typeface="Arial"/>
              </a:rPr>
              <a:t>DMA</a:t>
            </a:r>
            <a:r>
              <a:rPr b="1" dirty="0" sz="1100" spc="-25">
                <a:latin typeface="Arial"/>
                <a:cs typeface="Arial"/>
              </a:rPr>
              <a:t> </a:t>
            </a:r>
            <a:r>
              <a:rPr b="1" dirty="0" sz="1100">
                <a:latin typeface="Arial"/>
                <a:cs typeface="Arial"/>
              </a:rPr>
              <a:t>Control</a:t>
            </a:r>
            <a:r>
              <a:rPr b="1" dirty="0" sz="1100" spc="20">
                <a:latin typeface="Arial"/>
                <a:cs typeface="Arial"/>
              </a:rPr>
              <a:t> </a:t>
            </a:r>
            <a:r>
              <a:rPr b="1" dirty="0" sz="1100" spc="-10">
                <a:latin typeface="Arial"/>
                <a:cs typeface="Arial"/>
              </a:rPr>
              <a:t>Register)</a:t>
            </a:r>
            <a:endParaRPr sz="1100">
              <a:latin typeface="Arial"/>
              <a:cs typeface="Arial"/>
            </a:endParaRPr>
          </a:p>
          <a:p>
            <a:pPr indent="-312420" lvl="1" marL="926465">
              <a:lnSpc>
                <a:spcPct val="100000"/>
              </a:lnSpc>
              <a:spcBef>
                <a:spcPts val="200"/>
              </a:spcBef>
              <a:buFont typeface="Arial"/>
              <a:buChar char="○"/>
              <a:tabLst>
                <a:tab algn="l" pos="926465"/>
              </a:tabLst>
            </a:pPr>
            <a:r>
              <a:rPr b="1" dirty="0" sz="1100" spc="-10">
                <a:latin typeface="Arial"/>
                <a:cs typeface="Arial"/>
              </a:rPr>
              <a:t>Purpose</a:t>
            </a:r>
            <a:r>
              <a:rPr dirty="0" sz="1100" spc="-10">
                <a:latin typeface="Arial"/>
                <a:cs typeface="Arial"/>
              </a:rPr>
              <a:t>: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Controls</a:t>
            </a:r>
            <a:r>
              <a:rPr dirty="0" sz="1100" spc="-20">
                <a:latin typeface="Arial"/>
                <a:cs typeface="Arial"/>
              </a:rPr>
              <a:t> DMA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operations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20">
                <a:latin typeface="Arial"/>
                <a:cs typeface="Arial"/>
              </a:rPr>
              <a:t> UART.</a:t>
            </a:r>
            <a:endParaRPr sz="1100">
              <a:latin typeface="Arial"/>
              <a:cs typeface="Arial"/>
            </a:endParaRPr>
          </a:p>
          <a:p>
            <a:pPr indent="-312420" lvl="1" marL="926465">
              <a:lnSpc>
                <a:spcPct val="100000"/>
              </a:lnSpc>
              <a:spcBef>
                <a:spcPts val="195"/>
              </a:spcBef>
              <a:buFont typeface="Arial"/>
              <a:buChar char="○"/>
              <a:tabLst>
                <a:tab algn="l" pos="926465"/>
              </a:tabLst>
            </a:pPr>
            <a:r>
              <a:rPr b="1" dirty="0" sz="1100" spc="-10">
                <a:latin typeface="Arial"/>
                <a:cs typeface="Arial"/>
              </a:rPr>
              <a:t>Function</a:t>
            </a:r>
            <a:r>
              <a:rPr dirty="0" sz="1100" spc="-10">
                <a:latin typeface="Arial"/>
                <a:cs typeface="Arial"/>
              </a:rPr>
              <a:t>: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Enables/disables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DMA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configures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transfer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settings.</a:t>
            </a:r>
            <a:endParaRPr sz="11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35"/>
              </a:spcBef>
              <a:buFont typeface="Arial"/>
              <a:buChar char="○"/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dirty="0" sz="1100" spc="-10">
                <a:latin typeface="Arial"/>
                <a:cs typeface="Arial"/>
              </a:rPr>
              <a:t>DMA</a:t>
            </a:r>
            <a:r>
              <a:rPr b="1" dirty="0" sz="1100" spc="-55">
                <a:latin typeface="Arial"/>
                <a:cs typeface="Arial"/>
              </a:rPr>
              <a:t> </a:t>
            </a:r>
            <a:r>
              <a:rPr b="1" dirty="0" sz="1100" spc="-10">
                <a:latin typeface="Arial"/>
                <a:cs typeface="Arial"/>
              </a:rPr>
              <a:t>Registers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"/>
              <a:cs typeface="Arial"/>
            </a:endParaRPr>
          </a:p>
          <a:p>
            <a:pPr indent="-312420" marL="46926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Arial"/>
              <a:buChar char="●"/>
              <a:tabLst>
                <a:tab algn="l" pos="469265"/>
              </a:tabLst>
            </a:pPr>
            <a:r>
              <a:rPr b="1" dirty="0" sz="1100" spc="-20">
                <a:solidFill>
                  <a:srgbClr val="000000"/>
                </a:solidFill>
                <a:latin typeface="Courier New"/>
                <a:cs typeface="Courier New"/>
              </a:rPr>
              <a:t>DMA_CONBLK_AD_OFFSET</a:t>
            </a:r>
            <a:r>
              <a:rPr b="1" dirty="0" sz="1100" spc="-33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1" dirty="0" sz="1100">
                <a:latin typeface="Arial"/>
                <a:cs typeface="Arial"/>
              </a:rPr>
              <a:t>(Control</a:t>
            </a:r>
            <a:r>
              <a:rPr b="1" dirty="0" sz="1100" spc="30">
                <a:latin typeface="Arial"/>
                <a:cs typeface="Arial"/>
              </a:rPr>
              <a:t> </a:t>
            </a:r>
            <a:r>
              <a:rPr b="1" dirty="0" sz="1100" spc="-10">
                <a:latin typeface="Arial"/>
                <a:cs typeface="Arial"/>
              </a:rPr>
              <a:t>Block</a:t>
            </a:r>
            <a:r>
              <a:rPr b="1" dirty="0" sz="1100" spc="-15">
                <a:latin typeface="Arial"/>
                <a:cs typeface="Arial"/>
              </a:rPr>
              <a:t> </a:t>
            </a:r>
            <a:r>
              <a:rPr b="1" dirty="0" sz="1100" spc="-10">
                <a:latin typeface="Arial"/>
                <a:cs typeface="Arial"/>
              </a:rPr>
              <a:t>Address</a:t>
            </a:r>
            <a:r>
              <a:rPr b="1" dirty="0" sz="1100" spc="30">
                <a:latin typeface="Arial"/>
                <a:cs typeface="Arial"/>
              </a:rPr>
              <a:t> </a:t>
            </a:r>
            <a:r>
              <a:rPr b="1" dirty="0" sz="1100" spc="-10">
                <a:latin typeface="Arial"/>
                <a:cs typeface="Arial"/>
              </a:rPr>
              <a:t>Register)</a:t>
            </a:r>
            <a:endParaRPr sz="1100">
              <a:latin typeface="Arial"/>
              <a:cs typeface="Arial"/>
            </a:endParaRPr>
          </a:p>
          <a:p>
            <a:pPr indent="-312420" lvl="1" marL="926465">
              <a:lnSpc>
                <a:spcPct val="100000"/>
              </a:lnSpc>
              <a:spcBef>
                <a:spcPts val="195"/>
              </a:spcBef>
              <a:buFont typeface="Arial"/>
              <a:buChar char="○"/>
              <a:tabLst>
                <a:tab algn="l" pos="926465"/>
              </a:tabLst>
            </a:pPr>
            <a:r>
              <a:rPr b="1" dirty="0" sz="1100" spc="-10">
                <a:latin typeface="Arial"/>
                <a:cs typeface="Arial"/>
              </a:rPr>
              <a:t>Purpose</a:t>
            </a:r>
            <a:r>
              <a:rPr dirty="0" sz="1100" spc="-10">
                <a:latin typeface="Arial"/>
                <a:cs typeface="Arial"/>
              </a:rPr>
              <a:t>: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Holds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address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DMA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Control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Block.</a:t>
            </a:r>
            <a:endParaRPr sz="1100">
              <a:latin typeface="Arial"/>
              <a:cs typeface="Arial"/>
            </a:endParaRPr>
          </a:p>
          <a:p>
            <a:pPr indent="-312420" lvl="1" marL="926465">
              <a:lnSpc>
                <a:spcPct val="100000"/>
              </a:lnSpc>
              <a:spcBef>
                <a:spcPts val="200"/>
              </a:spcBef>
              <a:buFont typeface="Arial"/>
              <a:buChar char="○"/>
              <a:tabLst>
                <a:tab algn="l" pos="926465"/>
              </a:tabLst>
            </a:pPr>
            <a:r>
              <a:rPr b="1" dirty="0" sz="1100" spc="-10">
                <a:latin typeface="Arial"/>
                <a:cs typeface="Arial"/>
              </a:rPr>
              <a:t>Function</a:t>
            </a:r>
            <a:r>
              <a:rPr dirty="0" sz="1100" spc="-10">
                <a:latin typeface="Arial"/>
                <a:cs typeface="Arial"/>
              </a:rPr>
              <a:t>:</a:t>
            </a:r>
            <a:r>
              <a:rPr dirty="0" sz="1100">
                <a:latin typeface="Arial"/>
                <a:cs typeface="Arial"/>
              </a:rPr>
              <a:t> Points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 </a:t>
            </a:r>
            <a:r>
              <a:rPr dirty="0" sz="1100" spc="-20">
                <a:latin typeface="Arial"/>
                <a:cs typeface="Arial"/>
              </a:rPr>
              <a:t>DMA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settings </a:t>
            </a:r>
            <a:r>
              <a:rPr dirty="0" sz="1100" spc="-10">
                <a:latin typeface="Arial"/>
                <a:cs typeface="Arial"/>
              </a:rPr>
              <a:t>(source/destination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addresses,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length).</a:t>
            </a:r>
            <a:endParaRPr sz="1100">
              <a:latin typeface="Arial"/>
              <a:cs typeface="Arial"/>
            </a:endParaRPr>
          </a:p>
          <a:p>
            <a:pPr indent="-312420" marL="469265">
              <a:lnSpc>
                <a:spcPct val="100000"/>
              </a:lnSpc>
              <a:spcBef>
                <a:spcPts val="195"/>
              </a:spcBef>
              <a:buClr>
                <a:srgbClr val="000000"/>
              </a:buClr>
              <a:buFont typeface="Arial"/>
              <a:buChar char="●"/>
              <a:tabLst>
                <a:tab algn="l" pos="469265"/>
              </a:tabLst>
            </a:pPr>
            <a:r>
              <a:rPr b="1" dirty="0" sz="1100" spc="-20">
                <a:solidFill>
                  <a:srgbClr val="000000"/>
                </a:solidFill>
                <a:latin typeface="Courier New"/>
                <a:cs typeface="Courier New"/>
              </a:rPr>
              <a:t>DMA_CS_OFFSET</a:t>
            </a:r>
            <a:r>
              <a:rPr b="1" dirty="0" sz="1100" spc="-36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1" dirty="0" sz="1100">
                <a:latin typeface="Arial"/>
                <a:cs typeface="Arial"/>
              </a:rPr>
              <a:t>(Control &amp;</a:t>
            </a:r>
            <a:r>
              <a:rPr b="1" dirty="0" sz="1100" spc="-5">
                <a:latin typeface="Arial"/>
                <a:cs typeface="Arial"/>
              </a:rPr>
              <a:t> </a:t>
            </a:r>
            <a:r>
              <a:rPr b="1" dirty="0" sz="1100">
                <a:latin typeface="Arial"/>
                <a:cs typeface="Arial"/>
              </a:rPr>
              <a:t>Status </a:t>
            </a:r>
            <a:r>
              <a:rPr b="1" dirty="0" sz="1100" spc="-10">
                <a:latin typeface="Arial"/>
                <a:cs typeface="Arial"/>
              </a:rPr>
              <a:t>Register)</a:t>
            </a:r>
            <a:endParaRPr sz="1100">
              <a:latin typeface="Arial"/>
              <a:cs typeface="Arial"/>
            </a:endParaRPr>
          </a:p>
          <a:p>
            <a:pPr indent="-312420" lvl="1" marL="926465">
              <a:lnSpc>
                <a:spcPct val="100000"/>
              </a:lnSpc>
              <a:spcBef>
                <a:spcPts val="200"/>
              </a:spcBef>
              <a:buFont typeface="Arial"/>
              <a:buChar char="○"/>
              <a:tabLst>
                <a:tab algn="l" pos="926465"/>
              </a:tabLst>
            </a:pPr>
            <a:r>
              <a:rPr b="1" dirty="0" sz="1100" spc="-10">
                <a:latin typeface="Arial"/>
                <a:cs typeface="Arial"/>
              </a:rPr>
              <a:t>Purpose</a:t>
            </a:r>
            <a:r>
              <a:rPr dirty="0" sz="1100" spc="-10">
                <a:latin typeface="Arial"/>
                <a:cs typeface="Arial"/>
              </a:rPr>
              <a:t>: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Provides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DMA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transfer</a:t>
            </a:r>
            <a:r>
              <a:rPr dirty="0" sz="1100" spc="-10">
                <a:latin typeface="Arial"/>
                <a:cs typeface="Arial"/>
              </a:rPr>
              <a:t> status.</a:t>
            </a:r>
            <a:endParaRPr sz="1100">
              <a:latin typeface="Arial"/>
              <a:cs typeface="Arial"/>
            </a:endParaRPr>
          </a:p>
          <a:p>
            <a:pPr indent="-312420" lvl="1" marL="926465">
              <a:lnSpc>
                <a:spcPct val="100000"/>
              </a:lnSpc>
              <a:spcBef>
                <a:spcPts val="200"/>
              </a:spcBef>
              <a:buFont typeface="Arial"/>
              <a:buChar char="○"/>
              <a:tabLst>
                <a:tab algn="l" pos="926465"/>
              </a:tabLst>
            </a:pPr>
            <a:r>
              <a:rPr b="1" dirty="0" sz="1100" spc="-10">
                <a:latin typeface="Arial"/>
                <a:cs typeface="Arial"/>
              </a:rPr>
              <a:t>Function</a:t>
            </a:r>
            <a:r>
              <a:rPr dirty="0" sz="1100" spc="-10">
                <a:latin typeface="Arial"/>
                <a:cs typeface="Arial"/>
              </a:rPr>
              <a:t>: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Indicates transfer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completion</a:t>
            </a:r>
            <a:r>
              <a:rPr dirty="0" sz="1100">
                <a:latin typeface="Arial"/>
                <a:cs typeface="Arial"/>
              </a:rPr>
              <a:t> or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errors.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object 2"/>
          <p:cNvSpPr txBox="1">
            <a:spLocks noGrp="1"/>
          </p:cNvSpPr>
          <p:nvPr>
            <p:ph type="title"/>
          </p:nvPr>
        </p:nvSpPr>
        <p:spPr>
          <a:xfrm>
            <a:off x="301500" y="401093"/>
            <a:ext cx="2579370" cy="318770"/>
          </a:xfrm>
          <a:prstGeom prst="rect"/>
        </p:spPr>
        <p:txBody>
          <a:bodyPr bIns="0" lIns="0" rIns="0" rtlCol="0" tIns="13970" vert="horz" wrap="square">
            <a:spAutoFit/>
          </a:bodyPr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/>
              <a:t>API,s</a:t>
            </a:r>
            <a:r>
              <a:rPr dirty="0" sz="2150" spc="25"/>
              <a:t> </a:t>
            </a:r>
            <a:r>
              <a:rPr dirty="0" sz="2150"/>
              <a:t>for</a:t>
            </a:r>
            <a:r>
              <a:rPr dirty="0" sz="2150" spc="20"/>
              <a:t> </a:t>
            </a:r>
            <a:r>
              <a:rPr dirty="0" sz="2150" spc="-45"/>
              <a:t>UART-</a:t>
            </a:r>
            <a:r>
              <a:rPr dirty="0" sz="2150" spc="-25"/>
              <a:t>DMA</a:t>
            </a:r>
            <a:endParaRPr sz="2150"/>
          </a:p>
        </p:txBody>
      </p:sp>
      <p:sp>
        <p:nvSpPr>
          <p:cNvPr id="1048614" name="object 3" descr=""/>
          <p:cNvSpPr txBox="1"/>
          <p:nvPr/>
        </p:nvSpPr>
        <p:spPr>
          <a:xfrm>
            <a:off x="338500" y="899260"/>
            <a:ext cx="5097780" cy="1887855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>
                <a:latin typeface="Arial"/>
                <a:cs typeface="Arial"/>
              </a:rPr>
              <a:t>Memory</a:t>
            </a:r>
            <a:r>
              <a:rPr b="1" dirty="0" sz="1200" spc="-25">
                <a:latin typeface="Arial"/>
                <a:cs typeface="Arial"/>
              </a:rPr>
              <a:t> </a:t>
            </a:r>
            <a:r>
              <a:rPr b="1" dirty="0" sz="1200" spc="-10">
                <a:latin typeface="Arial"/>
                <a:cs typeface="Arial"/>
              </a:rPr>
              <a:t>Mapping</a:t>
            </a:r>
            <a:r>
              <a:rPr b="1" dirty="0" sz="1200" spc="-25">
                <a:latin typeface="Arial"/>
                <a:cs typeface="Arial"/>
              </a:rPr>
              <a:t> </a:t>
            </a:r>
            <a:r>
              <a:rPr b="1" dirty="0" sz="1200">
                <a:latin typeface="Arial"/>
                <a:cs typeface="Arial"/>
              </a:rPr>
              <a:t>and</a:t>
            </a:r>
            <a:r>
              <a:rPr b="1" dirty="0" sz="1200" spc="-20">
                <a:latin typeface="Arial"/>
                <a:cs typeface="Arial"/>
              </a:rPr>
              <a:t> </a:t>
            </a:r>
            <a:r>
              <a:rPr b="1" dirty="0" sz="1200">
                <a:latin typeface="Arial"/>
                <a:cs typeface="Arial"/>
              </a:rPr>
              <a:t>I/O</a:t>
            </a:r>
            <a:r>
              <a:rPr b="1" dirty="0" sz="1200" spc="-25">
                <a:latin typeface="Arial"/>
                <a:cs typeface="Arial"/>
              </a:rPr>
              <a:t> </a:t>
            </a:r>
            <a:r>
              <a:rPr b="1" dirty="0" sz="1200" spc="-10">
                <a:latin typeface="Arial"/>
                <a:cs typeface="Arial"/>
              </a:rPr>
              <a:t>Functions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b="1" dirty="0" sz="1000" spc="-10">
                <a:solidFill>
                  <a:srgbClr val="000000"/>
                </a:solidFill>
                <a:latin typeface="Courier New"/>
                <a:cs typeface="Courier New"/>
              </a:rPr>
              <a:t>ioremap</a:t>
            </a:r>
            <a:r>
              <a:rPr b="1" dirty="0" sz="1000" spc="-1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endParaRPr sz="100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Courier New"/>
              <a:cs typeface="Courier New"/>
            </a:endParaRPr>
          </a:p>
          <a:p>
            <a:pPr indent="-306070" marL="469265">
              <a:lnSpc>
                <a:spcPct val="100000"/>
              </a:lnSpc>
              <a:buFont typeface="Arial"/>
              <a:buChar char="●"/>
              <a:tabLst>
                <a:tab algn="l" pos="469265"/>
              </a:tabLst>
            </a:pPr>
            <a:r>
              <a:rPr b="1" dirty="0" sz="1000">
                <a:latin typeface="Arial"/>
                <a:cs typeface="Arial"/>
              </a:rPr>
              <a:t>Purpose</a:t>
            </a:r>
            <a:r>
              <a:rPr dirty="0" sz="1000">
                <a:latin typeface="Arial"/>
                <a:cs typeface="Arial"/>
              </a:rPr>
              <a:t>: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Maps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physical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memory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addresses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virtual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memory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for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kernel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access.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●"/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dirty="0" sz="1000" spc="-10">
                <a:solidFill>
                  <a:srgbClr val="000000"/>
                </a:solidFill>
                <a:latin typeface="Courier New"/>
                <a:cs typeface="Courier New"/>
              </a:rPr>
              <a:t>ioread32</a:t>
            </a:r>
            <a:r>
              <a:rPr b="1" dirty="0" sz="1000" spc="-1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endParaRPr sz="100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Courier New"/>
              <a:cs typeface="Courier New"/>
            </a:endParaRPr>
          </a:p>
          <a:p>
            <a:pPr indent="-306070" marL="469265">
              <a:lnSpc>
                <a:spcPct val="100000"/>
              </a:lnSpc>
              <a:buFont typeface="Arial"/>
              <a:buChar char="●"/>
              <a:tabLst>
                <a:tab algn="l" pos="469265"/>
              </a:tabLst>
            </a:pPr>
            <a:r>
              <a:rPr b="1" dirty="0" sz="1000">
                <a:latin typeface="Arial"/>
                <a:cs typeface="Arial"/>
              </a:rPr>
              <a:t>Purpose</a:t>
            </a:r>
            <a:r>
              <a:rPr dirty="0" sz="1000">
                <a:latin typeface="Arial"/>
                <a:cs typeface="Arial"/>
              </a:rPr>
              <a:t>: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Reads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32-bit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data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from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mapped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I/O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register.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●"/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dirty="0" sz="1000" spc="-10">
                <a:solidFill>
                  <a:srgbClr val="000000"/>
                </a:solidFill>
                <a:latin typeface="Courier New"/>
                <a:cs typeface="Courier New"/>
              </a:rPr>
              <a:t>iowrite32()</a:t>
            </a:r>
            <a:endParaRPr sz="100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urier New"/>
              <a:cs typeface="Courier New"/>
            </a:endParaRPr>
          </a:p>
          <a:p>
            <a:pPr indent="-306070" marL="469265">
              <a:lnSpc>
                <a:spcPct val="100000"/>
              </a:lnSpc>
              <a:buFont typeface="Arial"/>
              <a:buChar char="●"/>
              <a:tabLst>
                <a:tab algn="l" pos="469265"/>
              </a:tabLst>
            </a:pPr>
            <a:r>
              <a:rPr b="1" dirty="0" sz="1000">
                <a:latin typeface="Arial"/>
                <a:cs typeface="Arial"/>
              </a:rPr>
              <a:t>Purpose</a:t>
            </a:r>
            <a:r>
              <a:rPr dirty="0" sz="1000">
                <a:latin typeface="Arial"/>
                <a:cs typeface="Arial"/>
              </a:rPr>
              <a:t>: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Writes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32-bit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data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mapped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I/O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register.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48615" name="object 4" descr=""/>
          <p:cNvSpPr txBox="1"/>
          <p:nvPr/>
        </p:nvSpPr>
        <p:spPr>
          <a:xfrm>
            <a:off x="338500" y="3349154"/>
            <a:ext cx="4523740" cy="1323976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>
                <a:latin typeface="Arial"/>
                <a:cs typeface="Arial"/>
              </a:rPr>
              <a:t>Memory</a:t>
            </a:r>
            <a:r>
              <a:rPr b="1" dirty="0" sz="1200" spc="-70">
                <a:latin typeface="Arial"/>
                <a:cs typeface="Arial"/>
              </a:rPr>
              <a:t> </a:t>
            </a:r>
            <a:r>
              <a:rPr b="1" dirty="0" sz="1200">
                <a:latin typeface="Arial"/>
                <a:cs typeface="Arial"/>
              </a:rPr>
              <a:t>Allocation</a:t>
            </a:r>
            <a:r>
              <a:rPr b="1" dirty="0" sz="1200" spc="-35">
                <a:latin typeface="Arial"/>
                <a:cs typeface="Arial"/>
              </a:rPr>
              <a:t> </a:t>
            </a:r>
            <a:r>
              <a:rPr b="1" dirty="0" sz="1200">
                <a:latin typeface="Arial"/>
                <a:cs typeface="Arial"/>
              </a:rPr>
              <a:t>and</a:t>
            </a:r>
            <a:r>
              <a:rPr b="1" dirty="0" sz="1200" spc="-30">
                <a:latin typeface="Arial"/>
                <a:cs typeface="Arial"/>
              </a:rPr>
              <a:t> </a:t>
            </a:r>
            <a:r>
              <a:rPr b="1" dirty="0" sz="1200" spc="-10">
                <a:latin typeface="Arial"/>
                <a:cs typeface="Arial"/>
              </a:rPr>
              <a:t>Management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b="1" dirty="0" sz="1000" spc="-10">
                <a:solidFill>
                  <a:srgbClr val="000000"/>
                </a:solidFill>
                <a:latin typeface="Courier New"/>
                <a:cs typeface="Courier New"/>
              </a:rPr>
              <a:t>dma_alloc_coherent()</a:t>
            </a:r>
            <a:endParaRPr sz="100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Courier New"/>
              <a:cs typeface="Courier New"/>
            </a:endParaRPr>
          </a:p>
          <a:p>
            <a:pPr indent="-306070" marL="469265">
              <a:lnSpc>
                <a:spcPct val="100000"/>
              </a:lnSpc>
              <a:buFont typeface="Arial"/>
              <a:buChar char="●"/>
              <a:tabLst>
                <a:tab algn="l" pos="469265"/>
              </a:tabLst>
            </a:pPr>
            <a:r>
              <a:rPr b="1" dirty="0" sz="1000">
                <a:latin typeface="Arial"/>
                <a:cs typeface="Arial"/>
              </a:rPr>
              <a:t>Purpose</a:t>
            </a:r>
            <a:r>
              <a:rPr dirty="0" sz="1000">
                <a:latin typeface="Arial"/>
                <a:cs typeface="Arial"/>
              </a:rPr>
              <a:t>: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Allocates</a:t>
            </a:r>
            <a:r>
              <a:rPr dirty="0" sz="1000" spc="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physically</a:t>
            </a:r>
            <a:r>
              <a:rPr dirty="0" sz="1000" spc="5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contiguous</a:t>
            </a:r>
            <a:r>
              <a:rPr dirty="0" sz="1000" spc="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memory</a:t>
            </a:r>
            <a:r>
              <a:rPr dirty="0" sz="1000" spc="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for</a:t>
            </a:r>
            <a:r>
              <a:rPr dirty="0" sz="1000" spc="5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DMA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operations.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●"/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dirty="0" sz="1000" spc="-10">
                <a:solidFill>
                  <a:srgbClr val="000000"/>
                </a:solidFill>
                <a:latin typeface="Courier New"/>
                <a:cs typeface="Courier New"/>
              </a:rPr>
              <a:t>dma_free_coherent()</a:t>
            </a:r>
            <a:endParaRPr sz="100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Courier New"/>
              <a:cs typeface="Courier New"/>
            </a:endParaRPr>
          </a:p>
          <a:p>
            <a:pPr indent="-306070" marL="469265">
              <a:lnSpc>
                <a:spcPct val="100000"/>
              </a:lnSpc>
              <a:buFont typeface="Arial"/>
              <a:buChar char="●"/>
              <a:tabLst>
                <a:tab algn="l" pos="469265"/>
              </a:tabLst>
            </a:pPr>
            <a:r>
              <a:rPr b="1" dirty="0" sz="1000">
                <a:latin typeface="Arial"/>
                <a:cs typeface="Arial"/>
              </a:rPr>
              <a:t>Purpose</a:t>
            </a:r>
            <a:r>
              <a:rPr dirty="0" sz="1000">
                <a:latin typeface="Arial"/>
                <a:cs typeface="Arial"/>
              </a:rPr>
              <a:t>: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Frees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memory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allocated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by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b="1" dirty="0" sz="1000" spc="-10">
                <a:solidFill>
                  <a:srgbClr val="000000"/>
                </a:solidFill>
                <a:latin typeface="Courier New"/>
                <a:cs typeface="Courier New"/>
              </a:rPr>
              <a:t>dma_alloc_coherent()</a:t>
            </a:r>
            <a:r>
              <a:rPr b="1" dirty="0" sz="1000" spc="-10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b="1" sz="10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object 2"/>
          <p:cNvSpPr txBox="1">
            <a:spLocks noGrp="1"/>
          </p:cNvSpPr>
          <p:nvPr>
            <p:ph type="title"/>
          </p:nvPr>
        </p:nvSpPr>
        <p:spPr>
          <a:xfrm>
            <a:off x="177101" y="400298"/>
            <a:ext cx="6345649" cy="809693"/>
          </a:xfrm>
          <a:prstGeom prst="rect"/>
        </p:spPr>
        <p:txBody>
          <a:bodyPr bIns="0" lIns="0" rIns="0" rtlCol="0" tIns="123892" vert="horz" wrap="square">
            <a:spAutoFit/>
          </a:bodyPr>
          <a:p>
            <a:pPr marL="39878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It’s</a:t>
            </a:r>
            <a:r>
              <a:rPr dirty="0" spc="-40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/>
              <a:t>surprise</a:t>
            </a:r>
            <a:r>
              <a:rPr dirty="0" spc="-25"/>
              <a:t> </a:t>
            </a:r>
            <a:r>
              <a:rPr dirty="0"/>
              <a:t>Marcos</a:t>
            </a:r>
            <a:r>
              <a:rPr dirty="0" spc="-25"/>
              <a:t> </a:t>
            </a:r>
            <a:r>
              <a:rPr dirty="0"/>
              <a:t>uses</a:t>
            </a:r>
            <a:r>
              <a:rPr dirty="0" spc="-25"/>
              <a:t> </a:t>
            </a:r>
            <a:r>
              <a:rPr dirty="0"/>
              <a:t>Google</a:t>
            </a:r>
            <a:r>
              <a:rPr dirty="0" spc="-60"/>
              <a:t> </a:t>
            </a:r>
            <a:r>
              <a:rPr dirty="0" spc="-10"/>
              <a:t>Translate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his</a:t>
            </a:r>
            <a:r>
              <a:rPr dirty="0" spc="-10"/>
              <a:t> </a:t>
            </a:r>
            <a:r>
              <a:rPr dirty="0"/>
              <a:t>shop</a:t>
            </a:r>
            <a:r>
              <a:rPr dirty="0" spc="-10"/>
              <a:t> regularly.</a:t>
            </a:r>
          </a:p>
        </p:txBody>
      </p:sp>
      <p:sp>
        <p:nvSpPr>
          <p:cNvPr id="1048617" name="object 3" descr=""/>
          <p:cNvSpPr txBox="1"/>
          <p:nvPr/>
        </p:nvSpPr>
        <p:spPr>
          <a:xfrm>
            <a:off x="563275" y="1403031"/>
            <a:ext cx="5989320" cy="21844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Arial"/>
                <a:cs typeface="Arial"/>
              </a:rPr>
              <a:t>There</a:t>
            </a:r>
            <a:r>
              <a:rPr dirty="0" sz="4800" spc="-100">
                <a:latin typeface="Arial"/>
                <a:cs typeface="Arial"/>
              </a:rPr>
              <a:t> </a:t>
            </a:r>
            <a:r>
              <a:rPr dirty="0" sz="4800">
                <a:latin typeface="Arial"/>
                <a:cs typeface="Arial"/>
              </a:rPr>
              <a:t>are</a:t>
            </a:r>
            <a:r>
              <a:rPr dirty="0" sz="4800" spc="-90">
                <a:latin typeface="Arial"/>
                <a:cs typeface="Arial"/>
              </a:rPr>
              <a:t> </a:t>
            </a:r>
            <a:r>
              <a:rPr dirty="0" sz="4800">
                <a:solidFill>
                  <a:srgbClr val="0097A7"/>
                </a:solidFill>
                <a:latin typeface="Arial"/>
                <a:cs typeface="Arial"/>
              </a:rPr>
              <a:t>23</a:t>
            </a:r>
            <a:r>
              <a:rPr dirty="0" sz="4800" spc="-10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dirty="0" sz="4800" spc="-10">
                <a:solidFill>
                  <a:srgbClr val="0097A7"/>
                </a:solidFill>
                <a:latin typeface="Arial"/>
                <a:cs typeface="Arial"/>
              </a:rPr>
              <a:t>officially </a:t>
            </a:r>
            <a:r>
              <a:rPr dirty="0" sz="4800">
                <a:solidFill>
                  <a:srgbClr val="0097A7"/>
                </a:solidFill>
                <a:latin typeface="Arial"/>
                <a:cs typeface="Arial"/>
              </a:rPr>
              <a:t>recognized</a:t>
            </a:r>
            <a:r>
              <a:rPr dirty="0" sz="4800" spc="-29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dirty="0" sz="4800" spc="-10">
                <a:solidFill>
                  <a:srgbClr val="0097A7"/>
                </a:solidFill>
                <a:latin typeface="Arial"/>
                <a:cs typeface="Arial"/>
              </a:rPr>
              <a:t>languages </a:t>
            </a:r>
            <a:r>
              <a:rPr dirty="0" sz="4800">
                <a:latin typeface="Arial"/>
                <a:cs typeface="Arial"/>
              </a:rPr>
              <a:t>in</a:t>
            </a:r>
            <a:r>
              <a:rPr dirty="0" sz="4800" spc="-65">
                <a:latin typeface="Arial"/>
                <a:cs typeface="Arial"/>
              </a:rPr>
              <a:t> </a:t>
            </a:r>
            <a:r>
              <a:rPr dirty="0" sz="4800">
                <a:latin typeface="Arial"/>
                <a:cs typeface="Arial"/>
              </a:rPr>
              <a:t>the</a:t>
            </a:r>
            <a:r>
              <a:rPr dirty="0" sz="4800" spc="-65">
                <a:latin typeface="Arial"/>
                <a:cs typeface="Arial"/>
              </a:rPr>
              <a:t> </a:t>
            </a:r>
            <a:r>
              <a:rPr dirty="0" sz="4800" spc="-25">
                <a:latin typeface="Arial"/>
                <a:cs typeface="Arial"/>
              </a:rPr>
              <a:t>EU.</a:t>
            </a:r>
            <a:endParaRPr sz="4800">
              <a:latin typeface="Arial"/>
              <a:cs typeface="Arial"/>
            </a:endParaRPr>
          </a:p>
        </p:txBody>
      </p:sp>
      <p:sp>
        <p:nvSpPr>
          <p:cNvPr id="1048618" name="object 4" descr=""/>
          <p:cNvSpPr txBox="1"/>
          <p:nvPr/>
        </p:nvSpPr>
        <p:spPr>
          <a:xfrm>
            <a:off x="886622" y="4674541"/>
            <a:ext cx="1148080" cy="368299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u="heavy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1"/>
              </a:rPr>
              <a:t>theguardian.com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7" name="object 5" descr=""/>
          <p:cNvGrpSpPr/>
          <p:nvPr/>
        </p:nvGrpSpPr>
        <p:grpSpPr>
          <a:xfrm>
            <a:off x="6781387" y="2464034"/>
            <a:ext cx="2212340" cy="2537460"/>
            <a:chOff x="6781387" y="2464034"/>
            <a:chExt cx="2212340" cy="2537460"/>
          </a:xfrm>
        </p:grpSpPr>
        <p:pic>
          <p:nvPicPr>
            <p:cNvPr id="2097158" name="object 6" descr="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6781387" y="2496116"/>
              <a:ext cx="2212049" cy="2504993"/>
            </a:xfrm>
            <a:prstGeom prst="rect"/>
          </p:spPr>
        </p:pic>
        <p:pic>
          <p:nvPicPr>
            <p:cNvPr id="2097159" name="object 7" descr="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7340706" y="2464034"/>
              <a:ext cx="1093410" cy="430799"/>
            </a:xfrm>
            <a:prstGeom prst="rect"/>
          </p:spPr>
        </p:pic>
      </p:grpSp>
      <p:sp>
        <p:nvSpPr>
          <p:cNvPr id="1048619" name="object 8" descr=""/>
          <p:cNvSpPr txBox="1"/>
          <p:nvPr/>
        </p:nvSpPr>
        <p:spPr>
          <a:xfrm>
            <a:off x="6995938" y="2699837"/>
            <a:ext cx="1746885" cy="1170306"/>
          </a:xfrm>
          <a:prstGeom prst="rect"/>
        </p:spPr>
        <p:txBody>
          <a:bodyPr bIns="0" lIns="0" rIns="0" rtlCol="0" tIns="131445" vert="horz" wrap="square">
            <a:spAutoFit/>
          </a:bodyPr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b="1" dirty="0" sz="1400" spc="-25">
                <a:latin typeface="Trebuchet MS"/>
                <a:cs typeface="Trebuchet MS"/>
              </a:rPr>
              <a:t>Tip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ts val="1430"/>
              </a:lnSpc>
              <a:spcBef>
                <a:spcPts val="860"/>
              </a:spcBef>
            </a:pPr>
            <a:r>
              <a:rPr dirty="0" sz="1200" spc="-45">
                <a:solidFill>
                  <a:srgbClr val="595959"/>
                </a:solidFill>
                <a:latin typeface="Trebuchet MS"/>
                <a:cs typeface="Trebuchet MS"/>
              </a:rPr>
              <a:t>Don’t</a:t>
            </a:r>
            <a:r>
              <a:rPr dirty="0" sz="1200" spc="-2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rebuchet MS"/>
                <a:cs typeface="Trebuchet MS"/>
              </a:rPr>
              <a:t>let</a:t>
            </a:r>
            <a:r>
              <a:rPr dirty="0" sz="1200" spc="-2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595959"/>
                </a:solidFill>
                <a:latin typeface="Trebuchet MS"/>
                <a:cs typeface="Trebuchet MS"/>
              </a:rPr>
              <a:t>data</a:t>
            </a:r>
            <a:r>
              <a:rPr dirty="0" sz="1200" spc="-2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rebuchet MS"/>
                <a:cs typeface="Trebuchet MS"/>
              </a:rPr>
              <a:t>stand </a:t>
            </a:r>
            <a:r>
              <a:rPr dirty="0" sz="1200" spc="-20">
                <a:solidFill>
                  <a:srgbClr val="595959"/>
                </a:solidFill>
                <a:latin typeface="Trebuchet MS"/>
                <a:cs typeface="Trebuchet MS"/>
              </a:rPr>
              <a:t>alone.</a:t>
            </a:r>
            <a:r>
              <a:rPr dirty="0" sz="1200">
                <a:solidFill>
                  <a:srgbClr val="595959"/>
                </a:solidFill>
                <a:latin typeface="Trebuchet MS"/>
                <a:cs typeface="Trebuchet MS"/>
              </a:rPr>
              <a:t> Always</a:t>
            </a:r>
            <a:r>
              <a:rPr dirty="0" sz="1200" spc="4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rebuchet MS"/>
                <a:cs typeface="Trebuchet MS"/>
              </a:rPr>
              <a:t>relate</a:t>
            </a:r>
            <a:r>
              <a:rPr dirty="0" sz="1200" spc="5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rebuchet MS"/>
                <a:cs typeface="Trebuchet MS"/>
              </a:rPr>
              <a:t>it </a:t>
            </a:r>
            <a:r>
              <a:rPr dirty="0" sz="1200">
                <a:solidFill>
                  <a:srgbClr val="595959"/>
                </a:solidFill>
                <a:latin typeface="Trebuchet MS"/>
                <a:cs typeface="Trebuchet MS"/>
              </a:rPr>
              <a:t>back</a:t>
            </a:r>
            <a:r>
              <a:rPr dirty="0" sz="1200" spc="1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595959"/>
                </a:solidFill>
                <a:latin typeface="Trebuchet MS"/>
                <a:cs typeface="Trebuchet MS"/>
              </a:rPr>
              <a:t>to</a:t>
            </a:r>
            <a:r>
              <a:rPr dirty="0" sz="1200" spc="1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595959"/>
                </a:solidFill>
                <a:latin typeface="Trebuchet MS"/>
                <a:cs typeface="Trebuchet MS"/>
              </a:rPr>
              <a:t>a</a:t>
            </a:r>
            <a:r>
              <a:rPr dirty="0" sz="1200" spc="1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595959"/>
                </a:solidFill>
                <a:latin typeface="Trebuchet MS"/>
                <a:cs typeface="Trebuchet MS"/>
              </a:rPr>
              <a:t>story</a:t>
            </a:r>
            <a:r>
              <a:rPr dirty="0" sz="1200" spc="-6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rebuchet MS"/>
                <a:cs typeface="Trebuchet MS"/>
              </a:rPr>
              <a:t>you’ve </a:t>
            </a:r>
            <a:r>
              <a:rPr dirty="0" sz="1200">
                <a:solidFill>
                  <a:srgbClr val="595959"/>
                </a:solidFill>
                <a:latin typeface="Trebuchet MS"/>
                <a:cs typeface="Trebuchet MS"/>
              </a:rPr>
              <a:t>already</a:t>
            </a:r>
            <a:r>
              <a:rPr dirty="0" sz="1200" spc="-6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595959"/>
                </a:solidFill>
                <a:latin typeface="Trebuchet MS"/>
                <a:cs typeface="Trebuchet MS"/>
              </a:rPr>
              <a:t>told, </a:t>
            </a:r>
            <a:r>
              <a:rPr dirty="0" sz="1200">
                <a:solidFill>
                  <a:srgbClr val="595959"/>
                </a:solidFill>
                <a:latin typeface="Trebuchet MS"/>
                <a:cs typeface="Trebuchet MS"/>
              </a:rPr>
              <a:t>in</a:t>
            </a:r>
            <a:r>
              <a:rPr dirty="0" sz="1200" spc="-3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595959"/>
                </a:solidFill>
                <a:latin typeface="Trebuchet MS"/>
                <a:cs typeface="Trebuchet MS"/>
              </a:rPr>
              <a:t>this</a:t>
            </a:r>
            <a:r>
              <a:rPr dirty="0" sz="1200" spc="-3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rebuchet MS"/>
                <a:cs typeface="Trebuchet MS"/>
              </a:rPr>
              <a:t>case, Marco’s</a:t>
            </a:r>
            <a:r>
              <a:rPr dirty="0" sz="1200" spc="-2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rebuchet MS"/>
                <a:cs typeface="Trebuchet MS"/>
              </a:rPr>
              <a:t>shop.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2097160" name="object 9" descr=""/>
          <p:cNvPicPr>
            <a:picLocks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Your big idea</dc:title>
  <dc:creator>vivo 1807</dc:creator>
  <dcterms:created xsi:type="dcterms:W3CDTF">2025-01-05T08:37:06Z</dcterms:created>
  <dcterms:modified xsi:type="dcterms:W3CDTF">2025-01-05T19:55:57Z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ICV">
    <vt:lpwstr>db151c3f993f473d9e426cb0a4e722f0</vt:lpwstr>
  </property>
</Properties>
</file>