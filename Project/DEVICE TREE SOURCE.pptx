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
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8EE04B6-2266-4C6E-A366-053DE9C9C32D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05716F6-4BAA-45BC-9EF3-C7A877D9FB61}">
      <dgm:prSet/>
      <dgm:spPr/>
      <dgm:t>
        <a:bodyPr/>
        <a:lstStyle/>
        <a:p>
          <a:r>
            <a:rPr lang="en-IN" b="1"/>
            <a:t>Compile the Device Tree Overlay: </a:t>
          </a:r>
          <a:endParaRPr lang="en-IN"/>
        </a:p>
      </dgm:t>
    </dgm:pt>
    <dgm:pt modelId="{19069EF4-5571-4BD0-A022-B5A8C5E638FB}" type="parTrans" cxnId="{F213BAD0-DFBF-4CA6-8389-0BA8BD5967C4}">
      <dgm:prSet/>
      <dgm:spPr/>
      <dgm:t>
        <a:bodyPr/>
        <a:lstStyle/>
        <a:p>
          <a:endParaRPr lang="en-IN"/>
        </a:p>
      </dgm:t>
    </dgm:pt>
    <dgm:pt modelId="{BCBD5B06-5B0A-4E58-BF2B-FD2D2BD5D875}" type="sibTrans" cxnId="{F213BAD0-DFBF-4CA6-8389-0BA8BD5967C4}">
      <dgm:prSet/>
      <dgm:spPr/>
      <dgm:t>
        <a:bodyPr/>
        <a:lstStyle/>
        <a:p>
          <a:endParaRPr lang="en-IN"/>
        </a:p>
      </dgm:t>
    </dgm:pt>
    <dgm:pt modelId="{E252E780-4B40-4515-B032-104736D37772}">
      <dgm:prSet/>
      <dgm:spPr/>
      <dgm:t>
        <a:bodyPr/>
        <a:lstStyle/>
        <a:p>
          <a:r>
            <a:rPr lang="en-IN"/>
            <a:t>To compile the Dts into a binary .dtbo file (Device Tree Overlay), run the following command: dtc -@ -I dts -O dtb -o gpio_led.dtbo gpio_led.dts</a:t>
          </a:r>
        </a:p>
      </dgm:t>
    </dgm:pt>
    <dgm:pt modelId="{1521C205-AAFD-4C4E-8300-3BA2A621C53A}" type="parTrans" cxnId="{405B9AE6-D657-4F09-9F24-6B4026D27EC2}">
      <dgm:prSet/>
      <dgm:spPr/>
      <dgm:t>
        <a:bodyPr/>
        <a:lstStyle/>
        <a:p>
          <a:endParaRPr lang="en-IN"/>
        </a:p>
      </dgm:t>
    </dgm:pt>
    <dgm:pt modelId="{FBEF2410-1A2F-4B63-BC46-F66178691371}" type="sibTrans" cxnId="{405B9AE6-D657-4F09-9F24-6B4026D27EC2}">
      <dgm:prSet/>
      <dgm:spPr/>
      <dgm:t>
        <a:bodyPr/>
        <a:lstStyle/>
        <a:p>
          <a:endParaRPr lang="en-IN"/>
        </a:p>
      </dgm:t>
    </dgm:pt>
    <dgm:pt modelId="{2ACEBA46-0F9D-4899-9C3A-FAD8DE80D9F9}">
      <dgm:prSet/>
      <dgm:spPr/>
      <dgm:t>
        <a:bodyPr/>
        <a:lstStyle/>
        <a:p>
          <a:r>
            <a:rPr lang="en-IN" b="1"/>
            <a:t>Load the Device Tree Overlay: </a:t>
          </a:r>
          <a:endParaRPr lang="en-IN"/>
        </a:p>
      </dgm:t>
    </dgm:pt>
    <dgm:pt modelId="{444E2005-B9BB-429C-B5E5-91177B247248}" type="parTrans" cxnId="{532132F7-72FB-4902-8F1F-887A7E448FAE}">
      <dgm:prSet/>
      <dgm:spPr/>
      <dgm:t>
        <a:bodyPr/>
        <a:lstStyle/>
        <a:p>
          <a:endParaRPr lang="en-IN"/>
        </a:p>
      </dgm:t>
    </dgm:pt>
    <dgm:pt modelId="{97E6457F-62D5-4875-9E83-E25080381799}" type="sibTrans" cxnId="{532132F7-72FB-4902-8F1F-887A7E448FAE}">
      <dgm:prSet/>
      <dgm:spPr/>
      <dgm:t>
        <a:bodyPr/>
        <a:lstStyle/>
        <a:p>
          <a:endParaRPr lang="en-IN"/>
        </a:p>
      </dgm:t>
    </dgm:pt>
    <dgm:pt modelId="{B3FDF111-08D0-4110-8793-8120B6491D0D}">
      <dgm:prSet/>
      <dgm:spPr/>
      <dgm:t>
        <a:bodyPr/>
        <a:lstStyle/>
        <a:p>
          <a:r>
            <a:rPr lang="en-IN"/>
            <a:t>Copy the gpio_led.dtbo file to the /boot/overlays/ directory: sudo cp gpio_led.dtbo /boot/overlays/</a:t>
          </a:r>
        </a:p>
      </dgm:t>
    </dgm:pt>
    <dgm:pt modelId="{E43C7123-AD8A-4008-8401-4BE6D6FF94FD}" type="parTrans" cxnId="{A833E21D-03BD-4699-93CD-7DE7F3F8C81F}">
      <dgm:prSet/>
      <dgm:spPr/>
      <dgm:t>
        <a:bodyPr/>
        <a:lstStyle/>
        <a:p>
          <a:endParaRPr lang="en-IN"/>
        </a:p>
      </dgm:t>
    </dgm:pt>
    <dgm:pt modelId="{FCFE0679-9FB1-4B10-B5A7-89D1EE19F37A}" type="sibTrans" cxnId="{A833E21D-03BD-4699-93CD-7DE7F3F8C81F}">
      <dgm:prSet/>
      <dgm:spPr/>
      <dgm:t>
        <a:bodyPr/>
        <a:lstStyle/>
        <a:p>
          <a:endParaRPr lang="en-IN"/>
        </a:p>
      </dgm:t>
    </dgm:pt>
    <dgm:pt modelId="{E92CEF66-D26D-4A15-833E-CBB7FB097814}">
      <dgm:prSet/>
      <dgm:spPr/>
      <dgm:t>
        <a:bodyPr/>
        <a:lstStyle/>
        <a:p>
          <a:r>
            <a:rPr lang="en-IN"/>
            <a:t>You can load the overlay via the /boot/config.txt file by adding the following line: dtoverlay=gpio_led</a:t>
          </a:r>
        </a:p>
      </dgm:t>
    </dgm:pt>
    <dgm:pt modelId="{BE8F4E65-32ED-4FE0-9D9A-21A574BD00F6}" type="parTrans" cxnId="{B1CF3B75-DA11-436A-9C18-8D35038EFA08}">
      <dgm:prSet/>
      <dgm:spPr/>
      <dgm:t>
        <a:bodyPr/>
        <a:lstStyle/>
        <a:p>
          <a:endParaRPr lang="en-IN"/>
        </a:p>
      </dgm:t>
    </dgm:pt>
    <dgm:pt modelId="{C07B7AF6-D1CC-4B64-9482-8C0EA9835320}" type="sibTrans" cxnId="{B1CF3B75-DA11-436A-9C18-8D35038EFA08}">
      <dgm:prSet/>
      <dgm:spPr/>
      <dgm:t>
        <a:bodyPr/>
        <a:lstStyle/>
        <a:p>
          <a:endParaRPr lang="en-IN"/>
        </a:p>
      </dgm:t>
    </dgm:pt>
    <dgm:pt modelId="{BEC85EBF-F93F-4988-BB30-3DCCF4666F90}">
      <dgm:prSet/>
      <dgm:spPr/>
      <dgm:t>
        <a:bodyPr/>
        <a:lstStyle/>
        <a:p>
          <a:r>
            <a:rPr lang="en-IN"/>
            <a:t>Alternatively, you can load the overlay dynamically using the following command: sudo dtoverlay gpio_led</a:t>
          </a:r>
        </a:p>
      </dgm:t>
    </dgm:pt>
    <dgm:pt modelId="{B1CE73B8-334E-47EF-8A5F-0709E09229C3}" type="parTrans" cxnId="{A15FE031-274A-4857-B69C-2C3365AB2FA9}">
      <dgm:prSet/>
      <dgm:spPr/>
      <dgm:t>
        <a:bodyPr/>
        <a:lstStyle/>
        <a:p>
          <a:endParaRPr lang="en-IN"/>
        </a:p>
      </dgm:t>
    </dgm:pt>
    <dgm:pt modelId="{6E7CE45F-1DE6-455C-81F1-CE343B4604A5}" type="sibTrans" cxnId="{A15FE031-274A-4857-B69C-2C3365AB2FA9}">
      <dgm:prSet/>
      <dgm:spPr/>
      <dgm:t>
        <a:bodyPr/>
        <a:lstStyle/>
        <a:p>
          <a:endParaRPr lang="en-IN"/>
        </a:p>
      </dgm:t>
    </dgm:pt>
    <dgm:pt modelId="{7C28DEB4-8114-4B4A-A316-1E690485CF08}">
      <dgm:prSet/>
      <dgm:spPr/>
      <dgm:t>
        <a:bodyPr/>
        <a:lstStyle/>
        <a:p>
          <a:r>
            <a:rPr lang="en-IN" b="1"/>
            <a:t>Compile and Test the Kernel Module: </a:t>
          </a:r>
          <a:endParaRPr lang="en-IN"/>
        </a:p>
      </dgm:t>
    </dgm:pt>
    <dgm:pt modelId="{9EA8BE38-84F2-48DA-AB82-E3D0FF85798C}" type="parTrans" cxnId="{941BBE9F-4D72-4ED5-A759-1C4139FD1148}">
      <dgm:prSet/>
      <dgm:spPr/>
      <dgm:t>
        <a:bodyPr/>
        <a:lstStyle/>
        <a:p>
          <a:endParaRPr lang="en-IN"/>
        </a:p>
      </dgm:t>
    </dgm:pt>
    <dgm:pt modelId="{46ACF3B4-9FB2-4FC1-9A0A-66CB668FEC74}" type="sibTrans" cxnId="{941BBE9F-4D72-4ED5-A759-1C4139FD1148}">
      <dgm:prSet/>
      <dgm:spPr/>
      <dgm:t>
        <a:bodyPr/>
        <a:lstStyle/>
        <a:p>
          <a:endParaRPr lang="en-IN"/>
        </a:p>
      </dgm:t>
    </dgm:pt>
    <dgm:pt modelId="{81143259-7AA1-4080-8ED4-6F751E9E961C}">
      <dgm:prSet/>
      <dgm:spPr/>
      <dgm:t>
        <a:bodyPr/>
        <a:lstStyle/>
        <a:p>
          <a:r>
            <a:rPr lang="en-IN"/>
            <a:t>sudo insmod gpio_led.ko and then check dmesg it shows: [  124.567890] LED GPIO found: 17  and  	sudo rmmod gpio_led.ko and check dmesg [  124.567899] GPIO LED driver loaded. </a:t>
          </a:r>
        </a:p>
      </dgm:t>
    </dgm:pt>
    <dgm:pt modelId="{EF35413E-E1C8-4719-9402-BAE589697A83}" type="parTrans" cxnId="{70E80A62-9686-464D-B9B8-3714E4441CEB}">
      <dgm:prSet/>
      <dgm:spPr/>
      <dgm:t>
        <a:bodyPr/>
        <a:lstStyle/>
        <a:p>
          <a:endParaRPr lang="en-IN"/>
        </a:p>
      </dgm:t>
    </dgm:pt>
    <dgm:pt modelId="{E2001351-96D7-4EF4-944D-1954C6F8F4BF}" type="sibTrans" cxnId="{70E80A62-9686-464D-B9B8-3714E4441CEB}">
      <dgm:prSet/>
      <dgm:spPr/>
      <dgm:t>
        <a:bodyPr/>
        <a:lstStyle/>
        <a:p>
          <a:endParaRPr lang="en-IN"/>
        </a:p>
      </dgm:t>
    </dgm:pt>
    <dgm:pt modelId="{EB45F51F-CA44-44A1-BEC3-1826A117549C}">
      <dgm:prSet/>
      <dgm:spPr/>
      <dgm:t>
        <a:bodyPr/>
        <a:lstStyle/>
        <a:p>
          <a:r>
            <a:rPr lang="en-IN"/>
            <a:t>When the module is inserted, the LED connected to GPIO 17 will turn on for 1 second and then turn off. The kernel logs will display messages confirming the operations.</a:t>
          </a:r>
        </a:p>
      </dgm:t>
    </dgm:pt>
    <dgm:pt modelId="{D48D798F-6E3F-4DFA-8384-F3D5C3E629CD}" type="parTrans" cxnId="{EAE70F59-B35F-48B7-8B79-2267FB395C57}">
      <dgm:prSet/>
      <dgm:spPr/>
      <dgm:t>
        <a:bodyPr/>
        <a:lstStyle/>
        <a:p>
          <a:endParaRPr lang="en-IN"/>
        </a:p>
      </dgm:t>
    </dgm:pt>
    <dgm:pt modelId="{1F7FA23A-F10B-4001-8F11-72E614A6CEFA}" type="sibTrans" cxnId="{EAE70F59-B35F-48B7-8B79-2267FB395C57}">
      <dgm:prSet/>
      <dgm:spPr/>
      <dgm:t>
        <a:bodyPr/>
        <a:lstStyle/>
        <a:p>
          <a:endParaRPr lang="en-IN"/>
        </a:p>
      </dgm:t>
    </dgm:pt>
    <dgm:pt modelId="{AFD86676-F2F0-4319-B90D-D82D5A0AAFAA}" type="pres">
      <dgm:prSet presAssocID="{F8EE04B6-2266-4C6E-A366-053DE9C9C32D}" presName="Name0" presStyleCnt="0">
        <dgm:presLayoutVars>
          <dgm:dir/>
          <dgm:animLvl val="lvl"/>
          <dgm:resizeHandles val="exact"/>
        </dgm:presLayoutVars>
      </dgm:prSet>
      <dgm:spPr/>
    </dgm:pt>
    <dgm:pt modelId="{56D2DEFE-4C2F-4C52-B767-64C3A3043586}" type="pres">
      <dgm:prSet presAssocID="{B05716F6-4BAA-45BC-9EF3-C7A877D9FB61}" presName="linNode" presStyleCnt="0"/>
      <dgm:spPr/>
    </dgm:pt>
    <dgm:pt modelId="{5D2B05B4-59C9-4648-9F33-DE9BE6EB026D}" type="pres">
      <dgm:prSet presAssocID="{B05716F6-4BAA-45BC-9EF3-C7A877D9FB61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0D23769F-BA18-4832-8DF4-DE69E9C8C8AA}" type="pres">
      <dgm:prSet presAssocID="{B05716F6-4BAA-45BC-9EF3-C7A877D9FB61}" presName="descendantText" presStyleLbl="alignAccFollowNode1" presStyleIdx="0" presStyleCnt="3">
        <dgm:presLayoutVars>
          <dgm:bulletEnabled val="1"/>
        </dgm:presLayoutVars>
      </dgm:prSet>
      <dgm:spPr/>
    </dgm:pt>
    <dgm:pt modelId="{4DED0ABB-A04F-435F-8D51-CF49A664725D}" type="pres">
      <dgm:prSet presAssocID="{BCBD5B06-5B0A-4E58-BF2B-FD2D2BD5D875}" presName="sp" presStyleCnt="0"/>
      <dgm:spPr/>
    </dgm:pt>
    <dgm:pt modelId="{B6E43C35-BB79-417B-B6EA-823B8366D079}" type="pres">
      <dgm:prSet presAssocID="{2ACEBA46-0F9D-4899-9C3A-FAD8DE80D9F9}" presName="linNode" presStyleCnt="0"/>
      <dgm:spPr/>
    </dgm:pt>
    <dgm:pt modelId="{D144AAA4-3DBA-4EDB-AE5F-2A1008964217}" type="pres">
      <dgm:prSet presAssocID="{2ACEBA46-0F9D-4899-9C3A-FAD8DE80D9F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5F6C8EBB-98C1-495C-A391-1BC3B27B4837}" type="pres">
      <dgm:prSet presAssocID="{2ACEBA46-0F9D-4899-9C3A-FAD8DE80D9F9}" presName="descendantText" presStyleLbl="alignAccFollowNode1" presStyleIdx="1" presStyleCnt="3">
        <dgm:presLayoutVars>
          <dgm:bulletEnabled val="1"/>
        </dgm:presLayoutVars>
      </dgm:prSet>
      <dgm:spPr/>
    </dgm:pt>
    <dgm:pt modelId="{7B630AEF-9A6D-44DF-8AAD-4F2299B5D78C}" type="pres">
      <dgm:prSet presAssocID="{97E6457F-62D5-4875-9E83-E25080381799}" presName="sp" presStyleCnt="0"/>
      <dgm:spPr/>
    </dgm:pt>
    <dgm:pt modelId="{BA90503F-DDF2-4040-A9B9-D7AA83B33FBB}" type="pres">
      <dgm:prSet presAssocID="{7C28DEB4-8114-4B4A-A316-1E690485CF08}" presName="linNode" presStyleCnt="0"/>
      <dgm:spPr/>
    </dgm:pt>
    <dgm:pt modelId="{4F76FB1C-79A1-4342-91AD-DA2974CADD47}" type="pres">
      <dgm:prSet presAssocID="{7C28DEB4-8114-4B4A-A316-1E690485CF08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CA490534-1649-4178-995D-76981B00BBAB}" type="pres">
      <dgm:prSet presAssocID="{7C28DEB4-8114-4B4A-A316-1E690485CF08}" presName="descendantText" presStyleLbl="alignAccFollowNode1" presStyleIdx="2" presStyleCnt="3">
        <dgm:presLayoutVars>
          <dgm:bulletEnabled val="1"/>
        </dgm:presLayoutVars>
      </dgm:prSet>
      <dgm:spPr/>
    </dgm:pt>
    <dgm:pt modelId="{2A4D55A2-5FD7-471C-B634-781EC3F02D4D}" type="pres">
      <dgm:prSet presAssocID="{46ACF3B4-9FB2-4FC1-9A0A-66CB668FEC74}" presName="sp" presStyleCnt="0"/>
      <dgm:spPr/>
    </dgm:pt>
    <dgm:pt modelId="{9DC33FF5-31BC-4E69-A73A-752E66080A6C}" type="pres">
      <dgm:prSet presAssocID="{EB45F51F-CA44-44A1-BEC3-1826A117549C}" presName="linNode" presStyleCnt="0"/>
      <dgm:spPr/>
    </dgm:pt>
    <dgm:pt modelId="{9083D567-FAE6-4AC1-BB7E-F4C7040F4548}" type="pres">
      <dgm:prSet presAssocID="{EB45F51F-CA44-44A1-BEC3-1826A117549C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A833E21D-03BD-4699-93CD-7DE7F3F8C81F}" srcId="{2ACEBA46-0F9D-4899-9C3A-FAD8DE80D9F9}" destId="{B3FDF111-08D0-4110-8793-8120B6491D0D}" srcOrd="0" destOrd="0" parTransId="{E43C7123-AD8A-4008-8401-4BE6D6FF94FD}" sibTransId="{FCFE0679-9FB1-4B10-B5A7-89D1EE19F37A}"/>
    <dgm:cxn modelId="{AC9B282C-28A2-4D95-99FD-23BE68EC8444}" type="presOf" srcId="{E252E780-4B40-4515-B032-104736D37772}" destId="{0D23769F-BA18-4832-8DF4-DE69E9C8C8AA}" srcOrd="0" destOrd="0" presId="urn:microsoft.com/office/officeart/2005/8/layout/vList5"/>
    <dgm:cxn modelId="{A15FE031-274A-4857-B69C-2C3365AB2FA9}" srcId="{2ACEBA46-0F9D-4899-9C3A-FAD8DE80D9F9}" destId="{BEC85EBF-F93F-4988-BB30-3DCCF4666F90}" srcOrd="2" destOrd="0" parTransId="{B1CE73B8-334E-47EF-8A5F-0709E09229C3}" sibTransId="{6E7CE45F-1DE6-455C-81F1-CE343B4604A5}"/>
    <dgm:cxn modelId="{70E80A62-9686-464D-B9B8-3714E4441CEB}" srcId="{7C28DEB4-8114-4B4A-A316-1E690485CF08}" destId="{81143259-7AA1-4080-8ED4-6F751E9E961C}" srcOrd="0" destOrd="0" parTransId="{EF35413E-E1C8-4719-9402-BAE589697A83}" sibTransId="{E2001351-96D7-4EF4-944D-1954C6F8F4BF}"/>
    <dgm:cxn modelId="{B0A2174B-E47E-4860-AF91-9738FC69D2E1}" type="presOf" srcId="{E92CEF66-D26D-4A15-833E-CBB7FB097814}" destId="{5F6C8EBB-98C1-495C-A391-1BC3B27B4837}" srcOrd="0" destOrd="1" presId="urn:microsoft.com/office/officeart/2005/8/layout/vList5"/>
    <dgm:cxn modelId="{D532CD4E-E67E-4490-9637-D0FA4CD37C62}" type="presOf" srcId="{2ACEBA46-0F9D-4899-9C3A-FAD8DE80D9F9}" destId="{D144AAA4-3DBA-4EDB-AE5F-2A1008964217}" srcOrd="0" destOrd="0" presId="urn:microsoft.com/office/officeart/2005/8/layout/vList5"/>
    <dgm:cxn modelId="{06648152-5016-4635-8F49-9148C78D9466}" type="presOf" srcId="{EB45F51F-CA44-44A1-BEC3-1826A117549C}" destId="{9083D567-FAE6-4AC1-BB7E-F4C7040F4548}" srcOrd="0" destOrd="0" presId="urn:microsoft.com/office/officeart/2005/8/layout/vList5"/>
    <dgm:cxn modelId="{102B1253-F0D3-4A64-9179-F61773F4EE30}" type="presOf" srcId="{F8EE04B6-2266-4C6E-A366-053DE9C9C32D}" destId="{AFD86676-F2F0-4319-B90D-D82D5A0AAFAA}" srcOrd="0" destOrd="0" presId="urn:microsoft.com/office/officeart/2005/8/layout/vList5"/>
    <dgm:cxn modelId="{B1CF3B75-DA11-436A-9C18-8D35038EFA08}" srcId="{2ACEBA46-0F9D-4899-9C3A-FAD8DE80D9F9}" destId="{E92CEF66-D26D-4A15-833E-CBB7FB097814}" srcOrd="1" destOrd="0" parTransId="{BE8F4E65-32ED-4FE0-9D9A-21A574BD00F6}" sibTransId="{C07B7AF6-D1CC-4B64-9482-8C0EA9835320}"/>
    <dgm:cxn modelId="{EAE70F59-B35F-48B7-8B79-2267FB395C57}" srcId="{F8EE04B6-2266-4C6E-A366-053DE9C9C32D}" destId="{EB45F51F-CA44-44A1-BEC3-1826A117549C}" srcOrd="3" destOrd="0" parTransId="{D48D798F-6E3F-4DFA-8384-F3D5C3E629CD}" sibTransId="{1F7FA23A-F10B-4001-8F11-72E614A6CEFA}"/>
    <dgm:cxn modelId="{941BBE9F-4D72-4ED5-A759-1C4139FD1148}" srcId="{F8EE04B6-2266-4C6E-A366-053DE9C9C32D}" destId="{7C28DEB4-8114-4B4A-A316-1E690485CF08}" srcOrd="2" destOrd="0" parTransId="{9EA8BE38-84F2-48DA-AB82-E3D0FF85798C}" sibTransId="{46ACF3B4-9FB2-4FC1-9A0A-66CB668FEC74}"/>
    <dgm:cxn modelId="{7AC47BB2-84B5-4B01-AE76-22B862A281AB}" type="presOf" srcId="{BEC85EBF-F93F-4988-BB30-3DCCF4666F90}" destId="{5F6C8EBB-98C1-495C-A391-1BC3B27B4837}" srcOrd="0" destOrd="2" presId="urn:microsoft.com/office/officeart/2005/8/layout/vList5"/>
    <dgm:cxn modelId="{2711C3C2-F5DD-4320-B5B2-E3318C6A4EDC}" type="presOf" srcId="{B05716F6-4BAA-45BC-9EF3-C7A877D9FB61}" destId="{5D2B05B4-59C9-4648-9F33-DE9BE6EB026D}" srcOrd="0" destOrd="0" presId="urn:microsoft.com/office/officeart/2005/8/layout/vList5"/>
    <dgm:cxn modelId="{F213BAD0-DFBF-4CA6-8389-0BA8BD5967C4}" srcId="{F8EE04B6-2266-4C6E-A366-053DE9C9C32D}" destId="{B05716F6-4BAA-45BC-9EF3-C7A877D9FB61}" srcOrd="0" destOrd="0" parTransId="{19069EF4-5571-4BD0-A022-B5A8C5E638FB}" sibTransId="{BCBD5B06-5B0A-4E58-BF2B-FD2D2BD5D875}"/>
    <dgm:cxn modelId="{FBEE9EE1-7500-4F7A-9817-B10038A9F948}" type="presOf" srcId="{7C28DEB4-8114-4B4A-A316-1E690485CF08}" destId="{4F76FB1C-79A1-4342-91AD-DA2974CADD47}" srcOrd="0" destOrd="0" presId="urn:microsoft.com/office/officeart/2005/8/layout/vList5"/>
    <dgm:cxn modelId="{405B9AE6-D657-4F09-9F24-6B4026D27EC2}" srcId="{B05716F6-4BAA-45BC-9EF3-C7A877D9FB61}" destId="{E252E780-4B40-4515-B032-104736D37772}" srcOrd="0" destOrd="0" parTransId="{1521C205-AAFD-4C4E-8300-3BA2A621C53A}" sibTransId="{FBEF2410-1A2F-4B63-BC46-F66178691371}"/>
    <dgm:cxn modelId="{BC6F3FEC-F322-4049-98B2-029EA3FDC2D3}" type="presOf" srcId="{B3FDF111-08D0-4110-8793-8120B6491D0D}" destId="{5F6C8EBB-98C1-495C-A391-1BC3B27B4837}" srcOrd="0" destOrd="0" presId="urn:microsoft.com/office/officeart/2005/8/layout/vList5"/>
    <dgm:cxn modelId="{532132F7-72FB-4902-8F1F-887A7E448FAE}" srcId="{F8EE04B6-2266-4C6E-A366-053DE9C9C32D}" destId="{2ACEBA46-0F9D-4899-9C3A-FAD8DE80D9F9}" srcOrd="1" destOrd="0" parTransId="{444E2005-B9BB-429C-B5E5-91177B247248}" sibTransId="{97E6457F-62D5-4875-9E83-E25080381799}"/>
    <dgm:cxn modelId="{3366B2FC-B27D-4371-B13E-F24BC871E732}" type="presOf" srcId="{81143259-7AA1-4080-8ED4-6F751E9E961C}" destId="{CA490534-1649-4178-995D-76981B00BBAB}" srcOrd="0" destOrd="0" presId="urn:microsoft.com/office/officeart/2005/8/layout/vList5"/>
    <dgm:cxn modelId="{D279F751-62BF-4454-9CA4-1065A2C47425}" type="presParOf" srcId="{AFD86676-F2F0-4319-B90D-D82D5A0AAFAA}" destId="{56D2DEFE-4C2F-4C52-B767-64C3A3043586}" srcOrd="0" destOrd="0" presId="urn:microsoft.com/office/officeart/2005/8/layout/vList5"/>
    <dgm:cxn modelId="{1CD1A8CD-CE66-4B0B-85D4-11A5A0D19707}" type="presParOf" srcId="{56D2DEFE-4C2F-4C52-B767-64C3A3043586}" destId="{5D2B05B4-59C9-4648-9F33-DE9BE6EB026D}" srcOrd="0" destOrd="0" presId="urn:microsoft.com/office/officeart/2005/8/layout/vList5"/>
    <dgm:cxn modelId="{A1C3E1DA-A177-407E-A2C1-1DC39700FBC4}" type="presParOf" srcId="{56D2DEFE-4C2F-4C52-B767-64C3A3043586}" destId="{0D23769F-BA18-4832-8DF4-DE69E9C8C8AA}" srcOrd="1" destOrd="0" presId="urn:microsoft.com/office/officeart/2005/8/layout/vList5"/>
    <dgm:cxn modelId="{EACDFB10-6348-4D9A-B344-E39D1FFE07A5}" type="presParOf" srcId="{AFD86676-F2F0-4319-B90D-D82D5A0AAFAA}" destId="{4DED0ABB-A04F-435F-8D51-CF49A664725D}" srcOrd="1" destOrd="0" presId="urn:microsoft.com/office/officeart/2005/8/layout/vList5"/>
    <dgm:cxn modelId="{DB150772-10A0-4F02-85BB-A27505B607B2}" type="presParOf" srcId="{AFD86676-F2F0-4319-B90D-D82D5A0AAFAA}" destId="{B6E43C35-BB79-417B-B6EA-823B8366D079}" srcOrd="2" destOrd="0" presId="urn:microsoft.com/office/officeart/2005/8/layout/vList5"/>
    <dgm:cxn modelId="{DB56306F-1D66-4DBF-B112-B831373CBE20}" type="presParOf" srcId="{B6E43C35-BB79-417B-B6EA-823B8366D079}" destId="{D144AAA4-3DBA-4EDB-AE5F-2A1008964217}" srcOrd="0" destOrd="0" presId="urn:microsoft.com/office/officeart/2005/8/layout/vList5"/>
    <dgm:cxn modelId="{5CD38D76-656D-4998-B888-C7DF881C6460}" type="presParOf" srcId="{B6E43C35-BB79-417B-B6EA-823B8366D079}" destId="{5F6C8EBB-98C1-495C-A391-1BC3B27B4837}" srcOrd="1" destOrd="0" presId="urn:microsoft.com/office/officeart/2005/8/layout/vList5"/>
    <dgm:cxn modelId="{ADFB491B-0346-4EB5-BB9C-9602DB4CEA72}" type="presParOf" srcId="{AFD86676-F2F0-4319-B90D-D82D5A0AAFAA}" destId="{7B630AEF-9A6D-44DF-8AAD-4F2299B5D78C}" srcOrd="3" destOrd="0" presId="urn:microsoft.com/office/officeart/2005/8/layout/vList5"/>
    <dgm:cxn modelId="{C016BC0A-CD28-4D25-A1C2-4C6BE9493343}" type="presParOf" srcId="{AFD86676-F2F0-4319-B90D-D82D5A0AAFAA}" destId="{BA90503F-DDF2-4040-A9B9-D7AA83B33FBB}" srcOrd="4" destOrd="0" presId="urn:microsoft.com/office/officeart/2005/8/layout/vList5"/>
    <dgm:cxn modelId="{C62FE137-2190-4395-B512-51808A374796}" type="presParOf" srcId="{BA90503F-DDF2-4040-A9B9-D7AA83B33FBB}" destId="{4F76FB1C-79A1-4342-91AD-DA2974CADD47}" srcOrd="0" destOrd="0" presId="urn:microsoft.com/office/officeart/2005/8/layout/vList5"/>
    <dgm:cxn modelId="{9E43D954-DBD6-49AF-8F37-6FE51752545A}" type="presParOf" srcId="{BA90503F-DDF2-4040-A9B9-D7AA83B33FBB}" destId="{CA490534-1649-4178-995D-76981B00BBAB}" srcOrd="1" destOrd="0" presId="urn:microsoft.com/office/officeart/2005/8/layout/vList5"/>
    <dgm:cxn modelId="{E981C35B-4F0D-475D-8C50-9971628D605F}" type="presParOf" srcId="{AFD86676-F2F0-4319-B90D-D82D5A0AAFAA}" destId="{2A4D55A2-5FD7-471C-B634-781EC3F02D4D}" srcOrd="5" destOrd="0" presId="urn:microsoft.com/office/officeart/2005/8/layout/vList5"/>
    <dgm:cxn modelId="{71CD74B8-BE42-482D-BA7F-BEFEEAEED68F}" type="presParOf" srcId="{AFD86676-F2F0-4319-B90D-D82D5A0AAFAA}" destId="{9DC33FF5-31BC-4E69-A73A-752E66080A6C}" srcOrd="6" destOrd="0" presId="urn:microsoft.com/office/officeart/2005/8/layout/vList5"/>
    <dgm:cxn modelId="{AA40D78A-D45A-477B-8F84-CBC130C87F2C}" type="presParOf" srcId="{9DC33FF5-31BC-4E69-A73A-752E66080A6C}" destId="{9083D567-FAE6-4AC1-BB7E-F4C7040F4548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23769F-BA18-4832-8DF4-DE69E9C8C8AA}">
      <dsp:nvSpPr>
        <dsp:cNvPr id="0" name=""/>
        <dsp:cNvSpPr/>
      </dsp:nvSpPr>
      <dsp:spPr>
        <a:xfrm rot="5400000">
          <a:off x="6957108" y="-2872731"/>
          <a:ext cx="1022679" cy="702912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To compile the Dts into a binary .dtbo file (Device Tree Overlay), run the following command: dtc -@ -I dts -O dtb -o gpio_led.dtbo gpio_led.dts</a:t>
          </a:r>
        </a:p>
      </dsp:txBody>
      <dsp:txXfrm rot="-5400000">
        <a:off x="3953885" y="180415"/>
        <a:ext cx="6979204" cy="922833"/>
      </dsp:txXfrm>
    </dsp:sp>
    <dsp:sp modelId="{5D2B05B4-59C9-4648-9F33-DE9BE6EB026D}">
      <dsp:nvSpPr>
        <dsp:cNvPr id="0" name=""/>
        <dsp:cNvSpPr/>
      </dsp:nvSpPr>
      <dsp:spPr>
        <a:xfrm>
          <a:off x="0" y="2657"/>
          <a:ext cx="3953884" cy="1278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Compile the Device Tree Overlay: </a:t>
          </a:r>
          <a:endParaRPr lang="en-IN" sz="1600" kern="1200"/>
        </a:p>
      </dsp:txBody>
      <dsp:txXfrm>
        <a:off x="62404" y="65061"/>
        <a:ext cx="3829076" cy="1153541"/>
      </dsp:txXfrm>
    </dsp:sp>
    <dsp:sp modelId="{5F6C8EBB-98C1-495C-A391-1BC3B27B4837}">
      <dsp:nvSpPr>
        <dsp:cNvPr id="0" name=""/>
        <dsp:cNvSpPr/>
      </dsp:nvSpPr>
      <dsp:spPr>
        <a:xfrm rot="5400000">
          <a:off x="6957108" y="-1530464"/>
          <a:ext cx="1022679" cy="702912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Copy the gpio_led.dtbo file to the /boot/overlays/ directory: sudo cp gpio_led.dtbo /boot/overlays/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You can load the overlay via the /boot/config.txt file by adding the following line: dtoverlay=gpio_led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Alternatively, you can load the overlay dynamically using the following command: sudo dtoverlay gpio_led</a:t>
          </a:r>
        </a:p>
      </dsp:txBody>
      <dsp:txXfrm rot="-5400000">
        <a:off x="3953885" y="1522682"/>
        <a:ext cx="6979204" cy="922833"/>
      </dsp:txXfrm>
    </dsp:sp>
    <dsp:sp modelId="{D144AAA4-3DBA-4EDB-AE5F-2A1008964217}">
      <dsp:nvSpPr>
        <dsp:cNvPr id="0" name=""/>
        <dsp:cNvSpPr/>
      </dsp:nvSpPr>
      <dsp:spPr>
        <a:xfrm>
          <a:off x="0" y="1344924"/>
          <a:ext cx="3953884" cy="1278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Load the Device Tree Overlay: </a:t>
          </a:r>
          <a:endParaRPr lang="en-IN" sz="1600" kern="1200"/>
        </a:p>
      </dsp:txBody>
      <dsp:txXfrm>
        <a:off x="62404" y="1407328"/>
        <a:ext cx="3829076" cy="1153541"/>
      </dsp:txXfrm>
    </dsp:sp>
    <dsp:sp modelId="{CA490534-1649-4178-995D-76981B00BBAB}">
      <dsp:nvSpPr>
        <dsp:cNvPr id="0" name=""/>
        <dsp:cNvSpPr/>
      </dsp:nvSpPr>
      <dsp:spPr>
        <a:xfrm rot="5400000">
          <a:off x="6957108" y="-188197"/>
          <a:ext cx="1022679" cy="702912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300" kern="1200"/>
            <a:t>sudo insmod gpio_led.ko and then check dmesg it shows: [  124.567890] LED GPIO found: 17  and  	sudo rmmod gpio_led.ko and check dmesg [  124.567899] GPIO LED driver loaded. </a:t>
          </a:r>
        </a:p>
      </dsp:txBody>
      <dsp:txXfrm rot="-5400000">
        <a:off x="3953885" y="2864949"/>
        <a:ext cx="6979204" cy="922833"/>
      </dsp:txXfrm>
    </dsp:sp>
    <dsp:sp modelId="{4F76FB1C-79A1-4342-91AD-DA2974CADD47}">
      <dsp:nvSpPr>
        <dsp:cNvPr id="0" name=""/>
        <dsp:cNvSpPr/>
      </dsp:nvSpPr>
      <dsp:spPr>
        <a:xfrm>
          <a:off x="0" y="2687191"/>
          <a:ext cx="3953884" cy="1278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kern="1200"/>
            <a:t>Compile and Test the Kernel Module: </a:t>
          </a:r>
          <a:endParaRPr lang="en-IN" sz="1600" kern="1200"/>
        </a:p>
      </dsp:txBody>
      <dsp:txXfrm>
        <a:off x="62404" y="2749595"/>
        <a:ext cx="3829076" cy="1153541"/>
      </dsp:txXfrm>
    </dsp:sp>
    <dsp:sp modelId="{9083D567-FAE6-4AC1-BB7E-F4C7040F4548}">
      <dsp:nvSpPr>
        <dsp:cNvPr id="0" name=""/>
        <dsp:cNvSpPr/>
      </dsp:nvSpPr>
      <dsp:spPr>
        <a:xfrm>
          <a:off x="0" y="4029458"/>
          <a:ext cx="3953884" cy="127834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/>
            <a:t>When the module is inserted, the LED connected to GPIO 17 will turn on for 1 second and then turn off. The kernel logs will display messages confirming the operations.</a:t>
          </a:r>
        </a:p>
      </dsp:txBody>
      <dsp:txXfrm>
        <a:off x="62404" y="4091862"/>
        <a:ext cx="3829076" cy="11535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DFDE25D5-B493-4264-83F9-B10BFE90D68F}" type="datetime">
              <a:rPr b="0" lang="en-IN" sz="1200" spc="-1" strike="noStrike">
                <a:solidFill>
                  <a:srgbClr val="8b8b8b"/>
                </a:solidFill>
                <a:latin typeface="Calibri"/>
              </a:rPr>
              <a:t>06/01/25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AEDDBCDC-FDAC-4A80-8E3D-21BD5422010F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24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6FC4CC7F-B239-49D4-B4DB-35418EEC4034}" type="datetime">
              <a:rPr b="0" lang="en-IN" sz="1200" spc="-1" strike="noStrike">
                <a:solidFill>
                  <a:srgbClr val="8b8b8b"/>
                </a:solidFill>
                <a:latin typeface="Calibri"/>
              </a:rPr>
              <a:t>06/01/25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53B52FF7-3F8D-453B-AAA1-1CA56360EF6D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diagramData" Target="../diagrams/data1.xml"/><Relationship Id="rId2" Type="http://schemas.openxmlformats.org/officeDocument/2006/relationships/diagramLayout" Target="../diagrams/layout1.xml"/><Relationship Id="rId3" Type="http://schemas.openxmlformats.org/officeDocument/2006/relationships/diagramQuickStyle" Target="../diagrams/quickStyle1.xml"/><Relationship Id="rId4" Type="http://schemas.openxmlformats.org/officeDocument/2006/relationships/diagramColors" Target="../diagrams/colors1.xml"/><Relationship Id="rId5" Type="http://schemas.microsoft.com/office/2007/relationships/diagramDrawing" Target="../diagrams/drawing1.xml"/><Relationship Id="rId6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Shape 1"/>
          <p:cNvSpPr txBox="1"/>
          <p:nvPr/>
        </p:nvSpPr>
        <p:spPr>
          <a:xfrm>
            <a:off x="1523880" y="802440"/>
            <a:ext cx="9143640" cy="2626200"/>
          </a:xfrm>
          <a:prstGeom prst="rect">
            <a:avLst/>
          </a:prstGeom>
          <a:noFill/>
          <a:ln>
            <a:noFill/>
          </a:ln>
        </p:spPr>
        <p:txBody>
          <a:bodyPr anchor="b">
            <a:normAutofit/>
          </a:bodyPr>
          <a:p>
            <a:pPr algn="ctr">
              <a:lnSpc>
                <a:spcPct val="90000"/>
              </a:lnSpc>
            </a:pPr>
            <a:r>
              <a:rPr b="0" lang="en-GB" sz="8000" spc="-1" strike="noStrike">
                <a:solidFill>
                  <a:srgbClr val="000000"/>
                </a:solidFill>
                <a:latin typeface="Calibri Light"/>
              </a:rPr>
              <a:t>DEVICE TREE SOURCE</a:t>
            </a:r>
            <a:endParaRPr b="0" lang="en-US" sz="8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TextShape 2"/>
          <p:cNvSpPr txBox="1"/>
          <p:nvPr/>
        </p:nvSpPr>
        <p:spPr>
          <a:xfrm>
            <a:off x="1523880" y="3517920"/>
            <a:ext cx="10204200" cy="16552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3657600" algn="ctr">
              <a:lnSpc>
                <a:spcPct val="90000"/>
              </a:lnSpc>
              <a:spcBef>
                <a:spcPts val="499"/>
              </a:spcBef>
              <a:tabLst>
                <a:tab algn="l" pos="0"/>
              </a:tabLst>
            </a:pPr>
            <a:r>
              <a:rPr b="0" lang="en-GB" sz="16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Team 8: 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Complex Driver</a:t>
            </a:r>
            <a:br/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b="1" lang="en-GB" sz="2400" spc="-1" strike="noStrike">
                <a:solidFill>
                  <a:srgbClr val="000000"/>
                </a:solidFill>
                <a:latin typeface="Calibri"/>
              </a:rPr>
              <a:t>Presented by: </a:t>
            </a: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Ashritha and Sujitha</a:t>
            </a:r>
            <a:endParaRPr b="0" lang="en-IN" sz="2400" spc="-1" strike="noStrike">
              <a:latin typeface="Arial"/>
            </a:endParaRPr>
          </a:p>
          <a:p>
            <a:pPr algn="ctr"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/>
          </a:bodyPr>
          <a:p>
            <a:pPr>
              <a:lnSpc>
                <a:spcPct val="9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INTRODUCTION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GB" sz="2800" spc="-1" strike="noStrike">
                <a:solidFill>
                  <a:srgbClr val="000000"/>
                </a:solidFill>
                <a:latin typeface="Calibri"/>
              </a:rPr>
              <a:t>DTS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 is a human-readable text file that describes the hardware configuration of an embedded system.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It is part of the </a:t>
            </a:r>
            <a:r>
              <a:rPr b="1" lang="en-GB" sz="2800" spc="-1" strike="noStrike">
                <a:solidFill>
                  <a:srgbClr val="000000"/>
                </a:solidFill>
                <a:latin typeface="Calibri"/>
              </a:rPr>
              <a:t>Device Tree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 infrastructure, which allows the Linux kernel to understand the hardware layout of a specific platform without hardcoding it into the kernel source.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Enables a common kernel to support multiple hardware platforms.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 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TextShape 2"/>
          <p:cNvSpPr txBox="1"/>
          <p:nvPr/>
        </p:nvSpPr>
        <p:spPr>
          <a:xfrm>
            <a:off x="838080" y="134028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2800" spc="-1" strike="noStrike">
                <a:solidFill>
                  <a:srgbClr val="000000"/>
                </a:solidFill>
                <a:latin typeface="Calibri"/>
              </a:rPr>
              <a:t>DTS (Device Tree Source)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A human-readable source file (.dts) that describes about hardware.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Compiled into a binary Device Tree Blob (.dtb) using the </a:t>
            </a:r>
            <a:r>
              <a:rPr b="1" lang="en-IN" sz="2400" spc="-1" strike="noStrike">
                <a:solidFill>
                  <a:srgbClr val="000000"/>
                </a:solidFill>
                <a:latin typeface="Calibri"/>
              </a:rPr>
              <a:t>Device Tree Compiler (DTC)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2800" spc="-1" strike="noStrike">
                <a:solidFill>
                  <a:srgbClr val="000000"/>
                </a:solidFill>
                <a:latin typeface="Calibri"/>
              </a:rPr>
              <a:t>DTS Components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2400" spc="-1" strike="noStrike">
                <a:solidFill>
                  <a:srgbClr val="000000"/>
                </a:solidFill>
                <a:latin typeface="Calibri"/>
              </a:rPr>
              <a:t>Nodes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: Represent hardware components.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2400" spc="-1" strike="noStrike">
                <a:solidFill>
                  <a:srgbClr val="000000"/>
                </a:solidFill>
                <a:latin typeface="Calibri"/>
              </a:rPr>
              <a:t>Properties</a:t>
            </a: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: Describe configuration or settings for nodes.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WHY USE DTS?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TextShape 2"/>
          <p:cNvSpPr txBox="1"/>
          <p:nvPr/>
        </p:nvSpPr>
        <p:spPr>
          <a:xfrm>
            <a:off x="744840" y="158292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2800" spc="-1" strike="noStrike">
                <a:solidFill>
                  <a:srgbClr val="000000"/>
                </a:solidFill>
                <a:latin typeface="Calibri"/>
              </a:rPr>
              <a:t>Advantages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Simplifies hardware configuration.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Allows the same kernel to support different platforms.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Makes the kernel cleaner by removing hardware-specific code.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1" lang="en-IN" sz="2800" spc="-1" strike="noStrike">
                <a:solidFill>
                  <a:srgbClr val="000000"/>
                </a:solidFill>
                <a:latin typeface="Calibri"/>
              </a:rPr>
              <a:t>Use Cases</a:t>
            </a:r>
            <a:r>
              <a:rPr b="0" lang="en-IN" sz="2800" spc="-1" strike="noStrike">
                <a:solidFill>
                  <a:srgbClr val="000000"/>
                </a:solidFill>
                <a:latin typeface="Calibri"/>
              </a:rPr>
              <a:t>: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Embedded systems like Raspberry Pi, BeagleBone, etc.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48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Custom hardware platforms.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BASIC STRUCTURE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TextShape 2"/>
          <p:cNvSpPr txBox="1"/>
          <p:nvPr/>
        </p:nvSpPr>
        <p:spPr>
          <a:xfrm>
            <a:off x="838080" y="192600"/>
            <a:ext cx="9704880" cy="397872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Root Node (/): Represents the system's top level.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Child Nodes: Defines specific devices (eg: GPIO, SPI, I2C).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Properties: Key-value pairs inside nodes.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2" name="Picture 5" descr=""/>
          <p:cNvPicPr/>
          <p:nvPr/>
        </p:nvPicPr>
        <p:blipFill>
          <a:blip r:embed="rId1"/>
          <a:stretch/>
        </p:blipFill>
        <p:spPr>
          <a:xfrm>
            <a:off x="2391120" y="2887200"/>
            <a:ext cx="4736160" cy="2853360"/>
          </a:xfrm>
          <a:prstGeom prst="rect">
            <a:avLst/>
          </a:prstGeom>
          <a:ln>
            <a:noFill/>
          </a:ln>
        </p:spPr>
      </p:pic>
      <p:sp>
        <p:nvSpPr>
          <p:cNvPr id="93" name="CustomShape 3"/>
          <p:cNvSpPr/>
          <p:nvPr/>
        </p:nvSpPr>
        <p:spPr>
          <a:xfrm>
            <a:off x="838080" y="2839320"/>
            <a:ext cx="1316880" cy="8211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GB" sz="2400" spc="-1" strike="noStrike">
                <a:solidFill>
                  <a:srgbClr val="000000"/>
                </a:solidFill>
                <a:latin typeface="Calibri"/>
              </a:rPr>
              <a:t>Example:</a:t>
            </a:r>
            <a:endParaRPr b="0" lang="en-IN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property :compatible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>
              <a:lnSpc>
                <a:spcPct val="90000"/>
              </a:lnSpc>
              <a:spcBef>
                <a:spcPts val="1001"/>
              </a:spcBef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Every node in the tree that represents a device is required to have the </a:t>
            </a:r>
            <a:r>
              <a:rPr b="1" lang="en-GB" sz="2800" spc="-1" strike="noStrike">
                <a:solidFill>
                  <a:srgbClr val="000000"/>
                </a:solidFill>
                <a:latin typeface="Calibri"/>
              </a:rPr>
              <a:t>compatible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 property.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The link between the hardware and its driver.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Decides which device driver to bind to a device.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1" lang="en-GB" sz="2800" spc="-1" strike="noStrike">
                <a:solidFill>
                  <a:srgbClr val="000000"/>
                </a:solidFill>
                <a:latin typeface="Calibri"/>
              </a:rPr>
              <a:t>compatible</a:t>
            </a: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= "&lt;manufacturer&gt;,&lt;model&gt;"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NODE IN DTS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7" name="TextShape 2"/>
          <p:cNvSpPr txBox="1"/>
          <p:nvPr/>
        </p:nvSpPr>
        <p:spPr>
          <a:xfrm>
            <a:off x="838080" y="1825560"/>
            <a:ext cx="10404720" cy="4350960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Every device in the system is represented by a device node.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Node Names: &lt;name&gt;[@&lt;unit-address&gt;]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In DT, a node has been added for each device in the system, and the hierarchy reflects the how devices are connected to the system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A node in the device tree can be uniquely identified by specifying the full path from the root node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CODE: DTS USING GPIO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99" name="Content Placeholder 4" descr=""/>
          <p:cNvPicPr/>
          <p:nvPr/>
        </p:nvPicPr>
        <p:blipFill>
          <a:blip r:embed="rId1"/>
          <a:stretch/>
        </p:blipFill>
        <p:spPr>
          <a:xfrm>
            <a:off x="2246400" y="1690560"/>
            <a:ext cx="5478480" cy="368172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IN" sz="4400" spc="-1" strike="noStrike">
                <a:solidFill>
                  <a:srgbClr val="000000"/>
                </a:solidFill>
                <a:latin typeface="Calibri Light"/>
              </a:rPr>
              <a:t>Device Tree APIs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TextShape 2"/>
          <p:cNvSpPr txBox="1"/>
          <p:nvPr/>
        </p:nvSpPr>
        <p:spPr>
          <a:xfrm>
            <a:off x="838080" y="1690560"/>
            <a:ext cx="10515240" cy="456228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of_find_node_by_name(): Find a node by name.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of_get_property(): Retrieve a property.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of_get_named_gpio(): Get a GPIO number.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of_find_compatible_node(): Find a node by compatibility.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1"/>
          <p:cNvSpPr txBox="1"/>
          <p:nvPr/>
        </p:nvSpPr>
        <p:spPr>
          <a:xfrm>
            <a:off x="677880" y="2426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COMPILATION STEPS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1" name="Diagram1"/>
          <p:cNvGraphicFramePr/>
          <p:nvPr>
            <p:extLst>
              <p:ext uri="{D42A27DB-BD31-4B8C-83A1-F6EECF244321}">
                <p14:modId xmlns:p14="http://schemas.microsoft.com/office/powerpoint/2010/main" val="3662612409"/>
              </p:ext>
            </p:extLst>
          </p:nvPr>
        </p:nvGraphicFramePr>
        <p:xfrm>
          <a:off x="838080" y="1392120"/>
          <a:ext cx="10982520" cy="531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OUTPUT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4" name="Content Placeholder 4" descr=""/>
          <p:cNvPicPr/>
          <p:nvPr/>
        </p:nvPicPr>
        <p:blipFill>
          <a:blip r:embed="rId1"/>
          <a:stretch/>
        </p:blipFill>
        <p:spPr>
          <a:xfrm>
            <a:off x="3251160" y="1532160"/>
            <a:ext cx="5034240" cy="358056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Practical applications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TextShape 2"/>
          <p:cNvSpPr txBox="1"/>
          <p:nvPr/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Board support package(BSP): used in embedded systems to describe the hardware of specific board.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800" spc="-1" strike="noStrike">
                <a:solidFill>
                  <a:srgbClr val="000000"/>
                </a:solidFill>
                <a:latin typeface="Calibri"/>
              </a:rPr>
              <a:t>Custom Hardware: Developers creating custom boards must write or modify DTS files to describe their hardware to the linux kernel. 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Shape 1"/>
          <p:cNvSpPr txBox="1"/>
          <p:nvPr/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</a:pPr>
            <a:r>
              <a:rPr b="0" lang="en-GB" sz="4400" spc="-1" strike="noStrike">
                <a:solidFill>
                  <a:srgbClr val="000000"/>
                </a:solidFill>
                <a:latin typeface="Calibri Light"/>
              </a:rPr>
              <a:t> 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8" name="Picture 2" descr="Thank You Images for PPT / Presentation - Thank You Quotes ..."/>
          <p:cNvPicPr/>
          <p:nvPr/>
        </p:nvPicPr>
        <p:blipFill>
          <a:blip r:embed="rId1"/>
          <a:stretch/>
        </p:blipFill>
        <p:spPr>
          <a:xfrm>
            <a:off x="2695320" y="1244160"/>
            <a:ext cx="7711560" cy="4111200"/>
          </a:xfrm>
          <a:prstGeom prst="rect">
            <a:avLst/>
          </a:prstGeom>
          <a:ln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292</TotalTime>
  <Application>LibreOffice/6.4.7.2$Linux_X86_64 LibreOffice_project/40$Build-2</Application>
  <Words>639</Words>
  <Paragraphs>57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2025-01-04T15:56:21Z</dcterms:created>
  <dc:creator>CHADA ASHRITHA REDDY</dc:creator>
  <dc:description/>
  <dc:language>en-IN</dc:language>
  <cp:lastModifiedBy/>
  <dcterms:modified xsi:type="dcterms:W3CDTF">2025-01-06T10:55:57Z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13</vt:i4>
  </property>
</Properties>
</file>