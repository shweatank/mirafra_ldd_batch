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Lst>
  <p:sldIdLst>
    <p:sldId id="256" r:id="rId2"/>
    <p:sldId id="257" r:id="rId3"/>
    <p:sldId id="258" r:id="rId4"/>
    <p:sldId id="271" r:id="rId5"/>
    <p:sldId id="269" r:id="rId6"/>
    <p:sldId id="276" r:id="rId7"/>
    <p:sldId id="274" r:id="rId8"/>
    <p:sldId id="275" r:id="rId9"/>
    <p:sldId id="270" r:id="rId10"/>
    <p:sldId id="272" r:id="rId11"/>
    <p:sldId id="273"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99" autoAdjust="0"/>
    <p:restoredTop sz="94660"/>
  </p:normalViewPr>
  <p:slideViewPr>
    <p:cSldViewPr snapToGrid="0" snapToObjects="1">
      <p:cViewPr varScale="1">
        <p:scale>
          <a:sx n="82" d="100"/>
          <a:sy n="82" d="100"/>
        </p:scale>
        <p:origin x="1498"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5" name="Group 24"/>
          <p:cNvGrpSpPr/>
          <p:nvPr/>
        </p:nvGrpSpPr>
        <p:grpSpPr>
          <a:xfrm>
            <a:off x="203200" y="0"/>
            <a:ext cx="3778250" cy="6858001"/>
            <a:chOff x="203200" y="0"/>
            <a:chExt cx="3778250" cy="6858001"/>
          </a:xfrm>
        </p:grpSpPr>
        <p:sp>
          <p:nvSpPr>
            <p:cNvPr id="14" name="Freeform 6"/>
            <p:cNvSpPr/>
            <p:nvPr/>
          </p:nvSpPr>
          <p:spPr bwMode="auto">
            <a:xfrm>
              <a:off x="641350" y="0"/>
              <a:ext cx="1365250" cy="3971925"/>
            </a:xfrm>
            <a:custGeom>
              <a:avLst/>
              <a:gdLst/>
              <a:ahLst/>
              <a:cxnLst/>
              <a:rect l="0" t="0" r="r" b="b"/>
              <a:pathLst>
                <a:path w="860" h="2502">
                  <a:moveTo>
                    <a:pt x="0" y="2445"/>
                  </a:moveTo>
                  <a:lnTo>
                    <a:pt x="228" y="2502"/>
                  </a:lnTo>
                  <a:lnTo>
                    <a:pt x="860" y="0"/>
                  </a:lnTo>
                  <a:lnTo>
                    <a:pt x="620" y="0"/>
                  </a:lnTo>
                  <a:lnTo>
                    <a:pt x="0" y="2445"/>
                  </a:lnTo>
                  <a:close/>
                </a:path>
              </a:pathLst>
            </a:custGeom>
            <a:solidFill>
              <a:schemeClr val="accent1"/>
            </a:solidFill>
            <a:ln>
              <a:noFill/>
            </a:ln>
          </p:spPr>
        </p:sp>
        <p:sp>
          <p:nvSpPr>
            <p:cNvPr id="15" name="Freeform 7"/>
            <p:cNvSpPr/>
            <p:nvPr/>
          </p:nvSpPr>
          <p:spPr bwMode="auto">
            <a:xfrm>
              <a:off x="203200" y="0"/>
              <a:ext cx="1336675" cy="3862388"/>
            </a:xfrm>
            <a:custGeom>
              <a:avLst/>
              <a:gdLst/>
              <a:ahLst/>
              <a:cxnLst/>
              <a:rect l="0" t="0" r="r" b="b"/>
              <a:pathLst>
                <a:path w="842" h="2433">
                  <a:moveTo>
                    <a:pt x="842" y="0"/>
                  </a:moveTo>
                  <a:lnTo>
                    <a:pt x="602" y="0"/>
                  </a:lnTo>
                  <a:lnTo>
                    <a:pt x="0" y="2376"/>
                  </a:lnTo>
                  <a:lnTo>
                    <a:pt x="228" y="2433"/>
                  </a:lnTo>
                  <a:lnTo>
                    <a:pt x="842" y="0"/>
                  </a:lnTo>
                  <a:close/>
                </a:path>
              </a:pathLst>
            </a:custGeom>
            <a:solidFill>
              <a:schemeClr val="tx1">
                <a:lumMod val="65000"/>
                <a:lumOff val="35000"/>
              </a:schemeClr>
            </a:solidFill>
            <a:ln>
              <a:noFill/>
            </a:ln>
          </p:spPr>
        </p:sp>
        <p:sp>
          <p:nvSpPr>
            <p:cNvPr id="16" name="Freeform 8"/>
            <p:cNvSpPr/>
            <p:nvPr/>
          </p:nvSpPr>
          <p:spPr bwMode="auto">
            <a:xfrm>
              <a:off x="207963" y="3776663"/>
              <a:ext cx="1936750" cy="3081338"/>
            </a:xfrm>
            <a:custGeom>
              <a:avLst/>
              <a:gdLst/>
              <a:ahLst/>
              <a:cxnLst/>
              <a:rect l="0" t="0" r="r" b="b"/>
              <a:pathLst>
                <a:path w="1220" h="1941">
                  <a:moveTo>
                    <a:pt x="0" y="0"/>
                  </a:moveTo>
                  <a:lnTo>
                    <a:pt x="1166" y="1941"/>
                  </a:lnTo>
                  <a:lnTo>
                    <a:pt x="1220" y="1941"/>
                  </a:lnTo>
                  <a:lnTo>
                    <a:pt x="0" y="0"/>
                  </a:lnTo>
                  <a:close/>
                </a:path>
              </a:pathLst>
            </a:custGeom>
            <a:solidFill>
              <a:schemeClr val="tx1">
                <a:lumMod val="85000"/>
                <a:lumOff val="15000"/>
              </a:schemeClr>
            </a:solidFill>
            <a:ln>
              <a:noFill/>
            </a:ln>
          </p:spPr>
        </p:sp>
        <p:sp>
          <p:nvSpPr>
            <p:cNvPr id="20" name="Freeform 9"/>
            <p:cNvSpPr/>
            <p:nvPr/>
          </p:nvSpPr>
          <p:spPr bwMode="auto">
            <a:xfrm>
              <a:off x="646113" y="3886200"/>
              <a:ext cx="2373313" cy="2971800"/>
            </a:xfrm>
            <a:custGeom>
              <a:avLst/>
              <a:gdLst/>
              <a:ahLst/>
              <a:cxnLst/>
              <a:rect l="0" t="0" r="r" b="b"/>
              <a:pathLst>
                <a:path w="1495" h="1872">
                  <a:moveTo>
                    <a:pt x="1495" y="1872"/>
                  </a:moveTo>
                  <a:lnTo>
                    <a:pt x="0" y="0"/>
                  </a:lnTo>
                  <a:lnTo>
                    <a:pt x="1442" y="1872"/>
                  </a:lnTo>
                  <a:lnTo>
                    <a:pt x="1495" y="1872"/>
                  </a:lnTo>
                  <a:close/>
                </a:path>
              </a:pathLst>
            </a:custGeom>
            <a:solidFill>
              <a:schemeClr val="accent1">
                <a:lumMod val="50000"/>
              </a:schemeClr>
            </a:solidFill>
            <a:ln>
              <a:noFill/>
            </a:ln>
          </p:spPr>
        </p:sp>
        <p:sp>
          <p:nvSpPr>
            <p:cNvPr id="21" name="Freeform 10"/>
            <p:cNvSpPr/>
            <p:nvPr/>
          </p:nvSpPr>
          <p:spPr bwMode="auto">
            <a:xfrm>
              <a:off x="641350" y="3881438"/>
              <a:ext cx="3340100" cy="2976563"/>
            </a:xfrm>
            <a:custGeom>
              <a:avLst/>
              <a:gdLst/>
              <a:ahLst/>
              <a:cxnLst/>
              <a:rect l="0" t="0" r="r" b="b"/>
              <a:pathLst>
                <a:path w="2104" h="1875">
                  <a:moveTo>
                    <a:pt x="0" y="0"/>
                  </a:moveTo>
                  <a:lnTo>
                    <a:pt x="3" y="3"/>
                  </a:lnTo>
                  <a:lnTo>
                    <a:pt x="1498" y="1875"/>
                  </a:lnTo>
                  <a:lnTo>
                    <a:pt x="2104" y="1875"/>
                  </a:lnTo>
                  <a:lnTo>
                    <a:pt x="228" y="57"/>
                  </a:lnTo>
                  <a:lnTo>
                    <a:pt x="0" y="0"/>
                  </a:lnTo>
                  <a:close/>
                </a:path>
              </a:pathLst>
            </a:custGeom>
            <a:solidFill>
              <a:schemeClr val="accent1">
                <a:lumMod val="75000"/>
              </a:schemeClr>
            </a:solidFill>
            <a:ln>
              <a:noFill/>
            </a:ln>
          </p:spPr>
        </p:sp>
        <p:sp>
          <p:nvSpPr>
            <p:cNvPr id="22" name="Freeform 11"/>
            <p:cNvSpPr/>
            <p:nvPr/>
          </p:nvSpPr>
          <p:spPr bwMode="auto">
            <a:xfrm>
              <a:off x="203200" y="3771900"/>
              <a:ext cx="2660650" cy="3086100"/>
            </a:xfrm>
            <a:custGeom>
              <a:avLst/>
              <a:gdLst/>
              <a:ahLst/>
              <a:cxnLst/>
              <a:rect l="0" t="0" r="r" b="b"/>
              <a:pathLst>
                <a:path w="1676" h="1944">
                  <a:moveTo>
                    <a:pt x="1676" y="1944"/>
                  </a:moveTo>
                  <a:lnTo>
                    <a:pt x="264" y="111"/>
                  </a:lnTo>
                  <a:lnTo>
                    <a:pt x="225" y="60"/>
                  </a:lnTo>
                  <a:lnTo>
                    <a:pt x="228" y="60"/>
                  </a:lnTo>
                  <a:lnTo>
                    <a:pt x="264" y="111"/>
                  </a:lnTo>
                  <a:lnTo>
                    <a:pt x="234" y="69"/>
                  </a:lnTo>
                  <a:lnTo>
                    <a:pt x="228" y="57"/>
                  </a:lnTo>
                  <a:lnTo>
                    <a:pt x="222" y="54"/>
                  </a:lnTo>
                  <a:lnTo>
                    <a:pt x="0" y="0"/>
                  </a:lnTo>
                  <a:lnTo>
                    <a:pt x="3" y="3"/>
                  </a:lnTo>
                  <a:lnTo>
                    <a:pt x="1223" y="1944"/>
                  </a:lnTo>
                  <a:lnTo>
                    <a:pt x="1676" y="1944"/>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1739673" y="914401"/>
            <a:ext cx="6947127" cy="3488266"/>
          </a:xfrm>
        </p:spPr>
        <p:txBody>
          <a:bodyPr anchor="b">
            <a:normAutofit/>
          </a:bodyPr>
          <a:lstStyle>
            <a:lvl1pPr algn="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924238" y="4402666"/>
            <a:ext cx="5762563" cy="1364531"/>
          </a:xfrm>
        </p:spPr>
        <p:txBody>
          <a:bodyPr anchor="t">
            <a:normAutofit/>
          </a:bodyPr>
          <a:lstStyle>
            <a:lvl1pPr marL="0" indent="0" algn="r">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325773" y="6117336"/>
            <a:ext cx="857473" cy="365125"/>
          </a:xfrm>
        </p:spPr>
        <p:txBody>
          <a:bodyPr/>
          <a:lstStyle/>
          <a:p>
            <a:fld id="{5BCAD085-E8A6-8845-BD4E-CB4CCA059FC4}" type="datetimeFigureOut">
              <a:rPr lang="en-US" smtClean="0"/>
              <a:t>12/26/2024</a:t>
            </a:fld>
            <a:endParaRPr lang="en-US"/>
          </a:p>
        </p:txBody>
      </p:sp>
      <p:sp>
        <p:nvSpPr>
          <p:cNvPr id="5" name="Footer Placeholder 4"/>
          <p:cNvSpPr>
            <a:spLocks noGrp="1"/>
          </p:cNvSpPr>
          <p:nvPr>
            <p:ph type="ftr" sz="quarter" idx="11"/>
          </p:nvPr>
        </p:nvSpPr>
        <p:spPr>
          <a:xfrm>
            <a:off x="3623733" y="6117336"/>
            <a:ext cx="3609438" cy="365125"/>
          </a:xfrm>
        </p:spPr>
        <p:txBody>
          <a:bodyPr/>
          <a:lstStyle/>
          <a:p>
            <a:endParaRPr lang="en-US"/>
          </a:p>
        </p:txBody>
      </p:sp>
      <p:sp>
        <p:nvSpPr>
          <p:cNvPr id="6" name="Slide Number Placeholder 5"/>
          <p:cNvSpPr>
            <a:spLocks noGrp="1"/>
          </p:cNvSpPr>
          <p:nvPr>
            <p:ph type="sldNum" sz="quarter" idx="12"/>
          </p:nvPr>
        </p:nvSpPr>
        <p:spPr>
          <a:xfrm>
            <a:off x="8275320" y="6117336"/>
            <a:ext cx="411480" cy="365125"/>
          </a:xfrm>
        </p:spPr>
        <p:txBody>
          <a:bodyPr/>
          <a:lstStyle/>
          <a:p>
            <a:fld id="{C1FF6DA9-008F-8B48-92A6-B652298478BF}" type="slidenum">
              <a:rPr lang="en-US" smtClean="0"/>
              <a:t>‹#›</a:t>
            </a:fld>
            <a:endParaRPr lang="en-US"/>
          </a:p>
        </p:txBody>
      </p:sp>
      <p:sp>
        <p:nvSpPr>
          <p:cNvPr id="23" name="Freeform 12"/>
          <p:cNvSpPr/>
          <p:nvPr/>
        </p:nvSpPr>
        <p:spPr bwMode="auto">
          <a:xfrm>
            <a:off x="203200" y="3771900"/>
            <a:ext cx="361950" cy="90488"/>
          </a:xfrm>
          <a:custGeom>
            <a:avLst/>
            <a:gdLst/>
            <a:ahLst/>
            <a:cxnLst/>
            <a:rect l="0" t="0" r="r" b="b"/>
            <a:pathLst>
              <a:path w="228" h="57">
                <a:moveTo>
                  <a:pt x="228" y="57"/>
                </a:moveTo>
                <a:lnTo>
                  <a:pt x="0" y="0"/>
                </a:lnTo>
                <a:lnTo>
                  <a:pt x="222" y="54"/>
                </a:lnTo>
                <a:lnTo>
                  <a:pt x="228" y="57"/>
                </a:lnTo>
                <a:close/>
              </a:path>
            </a:pathLst>
          </a:custGeom>
          <a:solidFill>
            <a:srgbClr val="29ABE2"/>
          </a:solid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13"/>
          <p:cNvSpPr/>
          <p:nvPr/>
        </p:nvSpPr>
        <p:spPr bwMode="auto">
          <a:xfrm>
            <a:off x="560388" y="3867150"/>
            <a:ext cx="61913" cy="80963"/>
          </a:xfrm>
          <a:custGeom>
            <a:avLst/>
            <a:gdLst/>
            <a:ahLst/>
            <a:cxnLst/>
            <a:rect l="0" t="0" r="r" b="b"/>
            <a:pathLst>
              <a:path w="39" h="51">
                <a:moveTo>
                  <a:pt x="0" y="0"/>
                </a:moveTo>
                <a:lnTo>
                  <a:pt x="39" y="51"/>
                </a:lnTo>
                <a:lnTo>
                  <a:pt x="3" y="0"/>
                </a:lnTo>
                <a:lnTo>
                  <a:pt x="0" y="0"/>
                </a:lnTo>
                <a:close/>
              </a:path>
            </a:pathLst>
          </a:custGeom>
          <a:solidFill>
            <a:srgbClr val="29ABE2"/>
          </a:solidFill>
          <a:ln>
            <a:noFill/>
          </a:ln>
          <a:extLst>
            <a:ext uri="{91240B29-F687-4f45-9708-019B960494DF}">
              <a14:hiddenLine xmlns="" xmlns:a14="http://schemas.microsoft.com/office/drawing/2010/main" w="9525">
                <a:solidFill>
                  <a:srgbClr val="000000"/>
                </a:solidFill>
                <a:round/>
                <a:headEnd/>
                <a:tailEnd/>
              </a14:hiddenLine>
            </a:ext>
          </a:extLst>
        </p:spPr>
      </p:sp>
    </p:spTree>
    <p:extLst>
      <p:ext uri="{BB962C8B-B14F-4D97-AF65-F5344CB8AC3E}">
        <p14:creationId xmlns:p14="http://schemas.microsoft.com/office/powerpoint/2010/main" val="35168177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1"/>
            <a:ext cx="7704667" cy="1981200"/>
          </a:xfrm>
        </p:spPr>
        <p:txBody>
          <a:bodyPr/>
          <a:lstStyle/>
          <a:p>
            <a:r>
              <a:rPr lang="en-US"/>
              <a:t>Click to edit Master title style</a:t>
            </a:r>
            <a:endParaRPr lang="en-US" dirty="0"/>
          </a:p>
        </p:txBody>
      </p:sp>
      <p:sp>
        <p:nvSpPr>
          <p:cNvPr id="3" name="Content Placeholder 2"/>
          <p:cNvSpPr>
            <a:spLocks noGrp="1"/>
          </p:cNvSpPr>
          <p:nvPr>
            <p:ph idx="1"/>
          </p:nvPr>
        </p:nvSpPr>
        <p:spPr>
          <a:xfrm>
            <a:off x="982133" y="2667000"/>
            <a:ext cx="7704667" cy="333281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344329" y="6108173"/>
            <a:ext cx="857473" cy="365125"/>
          </a:xfrm>
        </p:spPr>
        <p:txBody>
          <a:bodyPr/>
          <a:lstStyle/>
          <a:p>
            <a:fld id="{5BCAD085-E8A6-8845-BD4E-CB4CCA059FC4}" type="datetimeFigureOut">
              <a:rPr lang="en-US" smtClean="0"/>
              <a:t>12/26/2024</a:t>
            </a:fld>
            <a:endParaRPr lang="en-US"/>
          </a:p>
        </p:txBody>
      </p:sp>
      <p:sp>
        <p:nvSpPr>
          <p:cNvPr id="5" name="Footer Placeholder 4"/>
          <p:cNvSpPr>
            <a:spLocks noGrp="1"/>
          </p:cNvSpPr>
          <p:nvPr>
            <p:ph type="ftr" sz="quarter" idx="11"/>
          </p:nvPr>
        </p:nvSpPr>
        <p:spPr>
          <a:xfrm>
            <a:off x="1972647" y="6108173"/>
            <a:ext cx="5314517" cy="365125"/>
          </a:xfrm>
        </p:spPr>
        <p:txBody>
          <a:bodyPr/>
          <a:lstStyle/>
          <a:p>
            <a:endParaRPr lang="en-US"/>
          </a:p>
        </p:txBody>
      </p:sp>
      <p:sp>
        <p:nvSpPr>
          <p:cNvPr id="6" name="Slide Number Placeholder 5"/>
          <p:cNvSpPr>
            <a:spLocks noGrp="1"/>
          </p:cNvSpPr>
          <p:nvPr>
            <p:ph type="sldNum" sz="quarter" idx="12"/>
          </p:nvPr>
        </p:nvSpPr>
        <p:spPr>
          <a:xfrm>
            <a:off x="8258967" y="6108173"/>
            <a:ext cx="427833"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5514766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986995" y="2666998"/>
            <a:ext cx="6699805" cy="2360071"/>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986998" y="5027070"/>
            <a:ext cx="6699802"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8273317" y="6116070"/>
            <a:ext cx="413483"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579065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82133" y="685801"/>
            <a:ext cx="7704667"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82133" y="2667000"/>
            <a:ext cx="3739896" cy="3368674"/>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946904" y="2667000"/>
            <a:ext cx="3739896" cy="3346824"/>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12/26/2024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85980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329481" y="2658533"/>
            <a:ext cx="3456291"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13523" y="3335336"/>
            <a:ext cx="3672248" cy="2665259"/>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161710" y="2667000"/>
            <a:ext cx="3467806"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957266" y="3335336"/>
            <a:ext cx="3672248" cy="2665259"/>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12/26/2024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725854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12/26/2024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088174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12/26/2024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323998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4" y="1600200"/>
            <a:ext cx="2662534"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3947553" y="685800"/>
            <a:ext cx="4681962"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3524" y="2971800"/>
            <a:ext cx="2662534"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12/26/2024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285251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2332" y="1752599"/>
            <a:ext cx="4070679"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5697495" y="914400"/>
            <a:ext cx="2461371"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12332" y="3124199"/>
            <a:ext cx="4070679"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12/26/2024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8295441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3" y="4732865"/>
            <a:ext cx="751599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789975" y="932112"/>
            <a:ext cx="6171065"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13523" y="5299603"/>
            <a:ext cx="751599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12/26/2024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3930825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4" y="685800"/>
            <a:ext cx="751599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13524" y="4343400"/>
            <a:ext cx="7515992"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143374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969421" y="863023"/>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8172197" y="2819399"/>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1426741" y="685801"/>
            <a:ext cx="6974115"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598235" y="3428999"/>
            <a:ext cx="6631128"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113523" y="4343400"/>
            <a:ext cx="751599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289817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13525" y="3308581"/>
            <a:ext cx="751598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13524" y="4777381"/>
            <a:ext cx="751599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564821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969421" y="863023"/>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8172197" y="2819399"/>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1426741" y="685801"/>
            <a:ext cx="6974115"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113525" y="3886200"/>
            <a:ext cx="751599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13524" y="4775200"/>
            <a:ext cx="751599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29891333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13525" y="685801"/>
            <a:ext cx="7515991"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113524" y="3505200"/>
            <a:ext cx="7515992"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13524" y="4343400"/>
            <a:ext cx="7515992"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9195377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93655107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301393" y="685800"/>
            <a:ext cx="1328123"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13524" y="685800"/>
            <a:ext cx="6016373"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204579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14" name="Group 13"/>
          <p:cNvGrpSpPr/>
          <p:nvPr/>
        </p:nvGrpSpPr>
        <p:grpSpPr>
          <a:xfrm>
            <a:off x="0" y="0"/>
            <a:ext cx="2132013" cy="6858001"/>
            <a:chOff x="0" y="0"/>
            <a:chExt cx="2132013" cy="6858001"/>
          </a:xfrm>
        </p:grpSpPr>
        <p:sp>
          <p:nvSpPr>
            <p:cNvPr id="15" name="Freeform 6"/>
            <p:cNvSpPr/>
            <p:nvPr/>
          </p:nvSpPr>
          <p:spPr bwMode="auto">
            <a:xfrm>
              <a:off x="0" y="0"/>
              <a:ext cx="1073150" cy="5291138"/>
            </a:xfrm>
            <a:custGeom>
              <a:avLst/>
              <a:gdLst/>
              <a:ahLst/>
              <a:cxnLst/>
              <a:rect l="0" t="0" r="r" b="b"/>
              <a:pathLst>
                <a:path w="676" h="3333">
                  <a:moveTo>
                    <a:pt x="0" y="3132"/>
                  </a:moveTo>
                  <a:lnTo>
                    <a:pt x="0" y="3312"/>
                  </a:lnTo>
                  <a:lnTo>
                    <a:pt x="126" y="3333"/>
                  </a:lnTo>
                  <a:lnTo>
                    <a:pt x="676" y="0"/>
                  </a:lnTo>
                  <a:lnTo>
                    <a:pt x="514" y="0"/>
                  </a:lnTo>
                  <a:lnTo>
                    <a:pt x="0" y="3132"/>
                  </a:lnTo>
                  <a:close/>
                </a:path>
              </a:pathLst>
            </a:custGeom>
            <a:solidFill>
              <a:schemeClr val="accent1"/>
            </a:solidFill>
            <a:ln>
              <a:noFill/>
            </a:ln>
          </p:spPr>
        </p:sp>
        <p:sp>
          <p:nvSpPr>
            <p:cNvPr id="16" name="Freeform 7"/>
            <p:cNvSpPr/>
            <p:nvPr/>
          </p:nvSpPr>
          <p:spPr bwMode="auto">
            <a:xfrm>
              <a:off x="0" y="0"/>
              <a:ext cx="758825" cy="4624388"/>
            </a:xfrm>
            <a:custGeom>
              <a:avLst/>
              <a:gdLst/>
              <a:ahLst/>
              <a:cxnLst/>
              <a:rect l="0" t="0" r="r" b="b"/>
              <a:pathLst>
                <a:path w="478" h="2913">
                  <a:moveTo>
                    <a:pt x="478" y="0"/>
                  </a:moveTo>
                  <a:lnTo>
                    <a:pt x="318" y="0"/>
                  </a:lnTo>
                  <a:lnTo>
                    <a:pt x="0" y="1938"/>
                  </a:lnTo>
                  <a:lnTo>
                    <a:pt x="0" y="2913"/>
                  </a:lnTo>
                  <a:lnTo>
                    <a:pt x="478" y="0"/>
                  </a:lnTo>
                  <a:close/>
                </a:path>
              </a:pathLst>
            </a:custGeom>
            <a:solidFill>
              <a:schemeClr val="tx1">
                <a:lumMod val="65000"/>
                <a:lumOff val="35000"/>
              </a:schemeClr>
            </a:solidFill>
            <a:ln>
              <a:noFill/>
            </a:ln>
          </p:spPr>
        </p:sp>
        <p:sp>
          <p:nvSpPr>
            <p:cNvPr id="17" name="Freeform 8"/>
            <p:cNvSpPr/>
            <p:nvPr/>
          </p:nvSpPr>
          <p:spPr bwMode="auto">
            <a:xfrm>
              <a:off x="0" y="5662613"/>
              <a:ext cx="906463" cy="1195388"/>
            </a:xfrm>
            <a:custGeom>
              <a:avLst/>
              <a:gdLst/>
              <a:ahLst/>
              <a:cxnLst/>
              <a:rect l="0" t="0" r="r" b="b"/>
              <a:pathLst>
                <a:path w="571" h="753">
                  <a:moveTo>
                    <a:pt x="0" y="0"/>
                  </a:moveTo>
                  <a:lnTo>
                    <a:pt x="0" y="12"/>
                  </a:lnTo>
                  <a:lnTo>
                    <a:pt x="538" y="753"/>
                  </a:lnTo>
                  <a:lnTo>
                    <a:pt x="571" y="753"/>
                  </a:lnTo>
                  <a:lnTo>
                    <a:pt x="0" y="0"/>
                  </a:lnTo>
                  <a:close/>
                </a:path>
              </a:pathLst>
            </a:custGeom>
            <a:solidFill>
              <a:schemeClr val="tx1">
                <a:lumMod val="85000"/>
                <a:lumOff val="15000"/>
              </a:schemeClr>
            </a:solidFill>
            <a:ln>
              <a:noFill/>
            </a:ln>
          </p:spPr>
        </p:sp>
        <p:sp>
          <p:nvSpPr>
            <p:cNvPr id="18" name="Freeform 9"/>
            <p:cNvSpPr/>
            <p:nvPr/>
          </p:nvSpPr>
          <p:spPr bwMode="auto">
            <a:xfrm>
              <a:off x="0" y="5295900"/>
              <a:ext cx="1487488" cy="1562100"/>
            </a:xfrm>
            <a:custGeom>
              <a:avLst/>
              <a:gdLst/>
              <a:ahLst/>
              <a:cxnLst/>
              <a:rect l="0" t="0" r="r" b="b"/>
              <a:pathLst>
                <a:path w="937" h="984">
                  <a:moveTo>
                    <a:pt x="0" y="0"/>
                  </a:moveTo>
                  <a:lnTo>
                    <a:pt x="0" y="3"/>
                  </a:lnTo>
                  <a:lnTo>
                    <a:pt x="901" y="984"/>
                  </a:lnTo>
                  <a:lnTo>
                    <a:pt x="937" y="984"/>
                  </a:lnTo>
                  <a:lnTo>
                    <a:pt x="0" y="0"/>
                  </a:lnTo>
                  <a:close/>
                </a:path>
              </a:pathLst>
            </a:custGeom>
            <a:solidFill>
              <a:schemeClr val="accent1">
                <a:lumMod val="50000"/>
              </a:schemeClr>
            </a:solidFill>
            <a:ln>
              <a:noFill/>
            </a:ln>
          </p:spPr>
        </p:sp>
        <p:sp>
          <p:nvSpPr>
            <p:cNvPr id="19" name="Freeform 10"/>
            <p:cNvSpPr/>
            <p:nvPr/>
          </p:nvSpPr>
          <p:spPr bwMode="auto">
            <a:xfrm>
              <a:off x="0" y="5257800"/>
              <a:ext cx="2132013" cy="1600200"/>
            </a:xfrm>
            <a:custGeom>
              <a:avLst/>
              <a:gdLst/>
              <a:ahLst/>
              <a:cxnLst/>
              <a:rect l="0" t="0" r="r" b="b"/>
              <a:pathLst>
                <a:path w="1343" h="1008">
                  <a:moveTo>
                    <a:pt x="0" y="24"/>
                  </a:moveTo>
                  <a:lnTo>
                    <a:pt x="937" y="1008"/>
                  </a:lnTo>
                  <a:lnTo>
                    <a:pt x="1343" y="1008"/>
                  </a:lnTo>
                  <a:lnTo>
                    <a:pt x="126" y="21"/>
                  </a:lnTo>
                  <a:lnTo>
                    <a:pt x="0" y="0"/>
                  </a:lnTo>
                  <a:lnTo>
                    <a:pt x="0" y="24"/>
                  </a:lnTo>
                  <a:close/>
                </a:path>
              </a:pathLst>
            </a:custGeom>
            <a:solidFill>
              <a:schemeClr val="accent1">
                <a:lumMod val="75000"/>
              </a:schemeClr>
            </a:solidFill>
            <a:ln>
              <a:noFill/>
            </a:ln>
          </p:spPr>
        </p:sp>
        <p:sp>
          <p:nvSpPr>
            <p:cNvPr id="20" name="Freeform 11"/>
            <p:cNvSpPr/>
            <p:nvPr/>
          </p:nvSpPr>
          <p:spPr bwMode="auto">
            <a:xfrm>
              <a:off x="0" y="5357813"/>
              <a:ext cx="1377950" cy="1500188"/>
            </a:xfrm>
            <a:custGeom>
              <a:avLst/>
              <a:gdLst/>
              <a:ahLst/>
              <a:cxnLst/>
              <a:rect l="0" t="0" r="r" b="b"/>
              <a:pathLst>
                <a:path w="868" h="945">
                  <a:moveTo>
                    <a:pt x="0" y="192"/>
                  </a:moveTo>
                  <a:lnTo>
                    <a:pt x="571" y="945"/>
                  </a:lnTo>
                  <a:lnTo>
                    <a:pt x="868" y="945"/>
                  </a:lnTo>
                  <a:lnTo>
                    <a:pt x="0" y="0"/>
                  </a:lnTo>
                  <a:lnTo>
                    <a:pt x="0" y="192"/>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982133" y="457201"/>
            <a:ext cx="7704667" cy="1981200"/>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82134" y="2667000"/>
            <a:ext cx="7704666" cy="3356995"/>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358679" y="6116070"/>
            <a:ext cx="857473"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5BCAD085-E8A6-8845-BD4E-CB4CCA059FC4}" type="datetimeFigureOut">
              <a:rPr lang="en-US" smtClean="0"/>
              <a:t>12/26/2024</a:t>
            </a:fld>
            <a:endParaRPr lang="en-US"/>
          </a:p>
        </p:txBody>
      </p:sp>
      <p:sp>
        <p:nvSpPr>
          <p:cNvPr id="5" name="Footer Placeholder 4"/>
          <p:cNvSpPr>
            <a:spLocks noGrp="1"/>
          </p:cNvSpPr>
          <p:nvPr>
            <p:ph type="ftr" sz="quarter" idx="3"/>
          </p:nvPr>
        </p:nvSpPr>
        <p:spPr>
          <a:xfrm>
            <a:off x="1986997" y="6116070"/>
            <a:ext cx="531451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8273317" y="6116070"/>
            <a:ext cx="413483"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38102428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109" y="3217505"/>
            <a:ext cx="7704667" cy="503853"/>
          </a:xfrm>
        </p:spPr>
        <p:txBody>
          <a:bodyPr>
            <a:noAutofit/>
          </a:bodyPr>
          <a:lstStyle/>
          <a:p>
            <a:pPr algn="r"/>
            <a:r>
              <a:rPr lang="en-IN" sz="5400" dirty="0">
                <a:latin typeface="Times New Roman" panose="02020603050405020304" pitchFamily="18" charset="0"/>
                <a:cs typeface="Times New Roman" panose="02020603050405020304" pitchFamily="18" charset="0"/>
              </a:rPr>
              <a:t>DATA TRANSFER via UART</a:t>
            </a:r>
            <a:br>
              <a:rPr lang="en-IN" sz="5400" dirty="0">
                <a:latin typeface="Times New Roman" panose="02020603050405020304" pitchFamily="18" charset="0"/>
                <a:cs typeface="Times New Roman" panose="02020603050405020304" pitchFamily="18" charset="0"/>
              </a:rPr>
            </a:br>
            <a:br>
              <a:rPr lang="en-IN" sz="5400" dirty="0">
                <a:latin typeface="Times New Roman" panose="02020603050405020304" pitchFamily="18" charset="0"/>
                <a:cs typeface="Times New Roman" panose="02020603050405020304" pitchFamily="18" charset="0"/>
              </a:rPr>
            </a:br>
            <a:endParaRPr sz="54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5134C227-87F2-4270-E045-49D60B3392AE}"/>
              </a:ext>
            </a:extLst>
          </p:cNvPr>
          <p:cNvSpPr txBox="1"/>
          <p:nvPr/>
        </p:nvSpPr>
        <p:spPr>
          <a:xfrm>
            <a:off x="4338736" y="3640495"/>
            <a:ext cx="4945224" cy="1200329"/>
          </a:xfrm>
          <a:prstGeom prst="rect">
            <a:avLst/>
          </a:prstGeom>
          <a:noFill/>
        </p:spPr>
        <p:txBody>
          <a:bodyPr wrap="square" rtlCol="0">
            <a:spAutoFit/>
          </a:bodyPr>
          <a:lstStyle/>
          <a:p>
            <a:r>
              <a:rPr lang="en-GB" b="1" dirty="0"/>
              <a:t>Team 8: </a:t>
            </a:r>
            <a:r>
              <a:rPr lang="en-GB" dirty="0"/>
              <a:t>Project Overview and Implementation</a:t>
            </a:r>
            <a:br>
              <a:rPr lang="en-GB" dirty="0"/>
            </a:br>
            <a:r>
              <a:rPr lang="en-GB" b="1" dirty="0"/>
              <a:t>Presented by: </a:t>
            </a:r>
            <a:r>
              <a:rPr lang="en-GB" dirty="0"/>
              <a:t>Ashritha and Sujitha</a:t>
            </a:r>
            <a:endParaRPr lang="en-IN" dirty="0"/>
          </a:p>
          <a:p>
            <a:endParaRPr lang="en-GB" dirty="0"/>
          </a:p>
          <a:p>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731" y="736060"/>
            <a:ext cx="7704667" cy="1981200"/>
          </a:xfrm>
        </p:spPr>
        <p:txBody>
          <a:bodyPr/>
          <a:lstStyle/>
          <a:p>
            <a:r>
              <a:rPr lang="en-GB" dirty="0">
                <a:latin typeface="Times New Roman" panose="02020603050405020304" pitchFamily="18" charset="0"/>
                <a:cs typeface="Times New Roman" panose="02020603050405020304" pitchFamily="18" charset="0"/>
              </a:rPr>
              <a:t>AIM AND OBJECTIVE</a:t>
            </a:r>
            <a:endParaRPr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82132" y="2041849"/>
            <a:ext cx="7704667" cy="3332816"/>
          </a:xfrm>
        </p:spPr>
        <p:txBody>
          <a:bodyPr>
            <a:normAutofit/>
          </a:bodyPr>
          <a:lstStyle/>
          <a:p>
            <a:r>
              <a:rPr lang="en-GB" dirty="0">
                <a:latin typeface="Times New Roman" panose="02020603050405020304" pitchFamily="18" charset="0"/>
                <a:cs typeface="Times New Roman" panose="02020603050405020304" pitchFamily="18" charset="0"/>
              </a:rPr>
              <a:t>Send data via </a:t>
            </a:r>
            <a:r>
              <a:rPr lang="en-GB" dirty="0" err="1">
                <a:latin typeface="Times New Roman" panose="02020603050405020304" pitchFamily="18" charset="0"/>
                <a:cs typeface="Times New Roman" panose="02020603050405020304" pitchFamily="18" charset="0"/>
              </a:rPr>
              <a:t>uart</a:t>
            </a:r>
            <a:r>
              <a:rPr lang="en-GB" dirty="0">
                <a:latin typeface="Times New Roman" panose="02020603050405020304" pitchFamily="18" charset="0"/>
                <a:cs typeface="Times New Roman" panose="02020603050405020304" pitchFamily="18" charset="0"/>
              </a:rPr>
              <a:t> using device drivers(module programming).</a:t>
            </a:r>
            <a:endParaRPr lang="en-US" dirty="0">
              <a:solidFill>
                <a:schemeClr val="bg1"/>
              </a:solidFill>
              <a:latin typeface="Times New Roman" panose="02020603050405020304" pitchFamily="18" charset="0"/>
              <a:cs typeface="Times New Roman" panose="02020603050405020304" pitchFamily="18" charset="0"/>
            </a:endParaRPr>
          </a:p>
          <a:p>
            <a:r>
              <a:rPr dirty="0">
                <a:latin typeface="Times New Roman" panose="02020603050405020304" pitchFamily="18" charset="0"/>
                <a:cs typeface="Times New Roman" panose="02020603050405020304" pitchFamily="18" charset="0"/>
              </a:rPr>
              <a:t>The objective of this project is to implement a UART (Universal Asynchronous Receiver-Transmitter) driver on a Raspberry Pi using a Linux kernel module.</a:t>
            </a:r>
            <a:r>
              <a:rPr lang="en-GB"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This module will enable the transfer of data between devices over UART, allowing serial communication.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35331"/>
            <a:ext cx="7704667" cy="1981200"/>
          </a:xfrm>
        </p:spPr>
        <p:txBody>
          <a:bodyPr/>
          <a:lstStyle/>
          <a:p>
            <a:r>
              <a:rPr dirty="0">
                <a:latin typeface="Times New Roman" panose="02020603050405020304" pitchFamily="18" charset="0"/>
                <a:cs typeface="Times New Roman" panose="02020603050405020304" pitchFamily="18" charset="0"/>
              </a:rPr>
              <a:t>OVERVIEW</a:t>
            </a:r>
          </a:p>
        </p:txBody>
      </p:sp>
      <p:sp>
        <p:nvSpPr>
          <p:cNvPr id="3" name="Content Placeholder 2"/>
          <p:cNvSpPr>
            <a:spLocks noGrp="1"/>
          </p:cNvSpPr>
          <p:nvPr>
            <p:ph idx="1"/>
          </p:nvPr>
        </p:nvSpPr>
        <p:spPr>
          <a:xfrm>
            <a:off x="982133" y="2321767"/>
            <a:ext cx="7704667" cy="3332816"/>
          </a:xfrm>
        </p:spPr>
        <p:txBody>
          <a:bodyPr>
            <a:normAutofit fontScale="77500" lnSpcReduction="20000"/>
          </a:bodyPr>
          <a:lstStyle/>
          <a:p>
            <a:r>
              <a:rPr sz="2800" dirty="0">
                <a:latin typeface="Times New Roman" panose="02020603050405020304" pitchFamily="18" charset="0"/>
                <a:cs typeface="Times New Roman" panose="02020603050405020304" pitchFamily="18" charset="0"/>
              </a:rPr>
              <a:t>The UART communication protocol is widely used in embedded systems for transferring data between devices. It allows for data transmission one bit at a time over a single data line. This describes the steps involved in implementing a simple UART driver using the Linux kernel module on the Raspberry Pi.</a:t>
            </a:r>
            <a:endParaRPr lang="en-GB" sz="2800" dirty="0">
              <a:latin typeface="Times New Roman" panose="02020603050405020304" pitchFamily="18" charset="0"/>
              <a:cs typeface="Times New Roman" panose="02020603050405020304" pitchFamily="18" charset="0"/>
            </a:endParaRPr>
          </a:p>
          <a:p>
            <a:r>
              <a:rPr lang="en-GB" sz="2800" dirty="0">
                <a:latin typeface="Times New Roman" panose="02020603050405020304" pitchFamily="18" charset="0"/>
                <a:cs typeface="Times New Roman" panose="02020603050405020304" pitchFamily="18" charset="0"/>
              </a:rPr>
              <a:t>This module opens a UART port (/dev/&lt;</a:t>
            </a:r>
            <a:r>
              <a:rPr lang="en-GB" sz="2800" dirty="0" err="1">
                <a:latin typeface="Times New Roman" panose="02020603050405020304" pitchFamily="18" charset="0"/>
                <a:cs typeface="Times New Roman" panose="02020603050405020304" pitchFamily="18" charset="0"/>
              </a:rPr>
              <a:t>dev_name</a:t>
            </a:r>
            <a:r>
              <a:rPr lang="en-GB" sz="2800" dirty="0">
                <a:latin typeface="Times New Roman" panose="02020603050405020304" pitchFamily="18" charset="0"/>
                <a:cs typeface="Times New Roman" panose="02020603050405020304" pitchFamily="18" charset="0"/>
              </a:rPr>
              <a:t>&gt;), supports reading and writing to it, and provides basic error handling for common communication issues. The goal of this implementation is to demonstrate how to use Linux kernel facilities to communicate via UART</a:t>
            </a:r>
            <a:r>
              <a:rPr lang="en-GB" sz="2400" dirty="0">
                <a:latin typeface="Times New Roman" panose="02020603050405020304" pitchFamily="18" charset="0"/>
                <a:cs typeface="Times New Roman" panose="02020603050405020304" pitchFamily="18" charset="0"/>
              </a:rPr>
              <a:t>.</a:t>
            </a:r>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0FA511-73C3-FAB8-388B-0359050BE7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5488EC-53D1-AEAE-88AF-FFFF6753CC41}"/>
              </a:ext>
            </a:extLst>
          </p:cNvPr>
          <p:cNvSpPr>
            <a:spLocks noGrp="1"/>
          </p:cNvSpPr>
          <p:nvPr>
            <p:ph type="title"/>
          </p:nvPr>
        </p:nvSpPr>
        <p:spPr>
          <a:xfrm>
            <a:off x="719666" y="466531"/>
            <a:ext cx="7704667" cy="1981200"/>
          </a:xfrm>
        </p:spPr>
        <p:txBody>
          <a:bodyPr/>
          <a:lstStyle/>
          <a:p>
            <a:r>
              <a:rPr lang="en-IN" dirty="0">
                <a:latin typeface="Times New Roman" panose="02020603050405020304" pitchFamily="18" charset="0"/>
                <a:cs typeface="Times New Roman" panose="02020603050405020304" pitchFamily="18" charset="0"/>
              </a:rPr>
              <a:t>METHODOLOGY INVOLVED</a:t>
            </a:r>
            <a:endParaRPr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4D2E98C-5F72-717C-AFAD-B8433B19AD32}"/>
              </a:ext>
            </a:extLst>
          </p:cNvPr>
          <p:cNvSpPr>
            <a:spLocks noGrp="1"/>
          </p:cNvSpPr>
          <p:nvPr>
            <p:ph idx="1"/>
          </p:nvPr>
        </p:nvSpPr>
        <p:spPr>
          <a:xfrm>
            <a:off x="1094101" y="2309095"/>
            <a:ext cx="7704667" cy="3332816"/>
          </a:xfrm>
        </p:spPr>
        <p:txBody>
          <a:bodyPr/>
          <a:lstStyle/>
          <a:p>
            <a:pPr marL="0" indent="0">
              <a:buNone/>
            </a:pPr>
            <a:r>
              <a:rPr lang="en-GB" dirty="0">
                <a:latin typeface="Times New Roman" panose="02020603050405020304" pitchFamily="18" charset="0"/>
                <a:cs typeface="Times New Roman" panose="02020603050405020304" pitchFamily="18" charset="0"/>
              </a:rPr>
              <a:t>1. Initialize UART Communication</a:t>
            </a:r>
          </a:p>
          <a:p>
            <a:pPr marL="0" indent="0">
              <a:buNone/>
            </a:pPr>
            <a:r>
              <a:rPr lang="en-GB" dirty="0">
                <a:latin typeface="Times New Roman" panose="02020603050405020304" pitchFamily="18" charset="0"/>
                <a:cs typeface="Times New Roman" panose="02020603050405020304" pitchFamily="18" charset="0"/>
              </a:rPr>
              <a:t>2. Device Registration </a:t>
            </a:r>
          </a:p>
          <a:p>
            <a:pPr marL="0" indent="0">
              <a:buNone/>
            </a:pPr>
            <a:r>
              <a:rPr lang="en-GB" dirty="0">
                <a:latin typeface="Times New Roman" panose="02020603050405020304" pitchFamily="18" charset="0"/>
                <a:cs typeface="Times New Roman" panose="02020603050405020304" pitchFamily="18" charset="0"/>
              </a:rPr>
              <a:t>3. Opening and Closing UART Device </a:t>
            </a:r>
          </a:p>
          <a:p>
            <a:pPr marL="0" indent="0">
              <a:buNone/>
            </a:pPr>
            <a:r>
              <a:rPr lang="en-GB" dirty="0">
                <a:latin typeface="Times New Roman" panose="02020603050405020304" pitchFamily="18" charset="0"/>
                <a:cs typeface="Times New Roman" panose="02020603050405020304" pitchFamily="18" charset="0"/>
              </a:rPr>
              <a:t>4. Reading and Writing Data</a:t>
            </a:r>
          </a:p>
          <a:p>
            <a:pPr marL="0" indent="0">
              <a:buNone/>
            </a:pPr>
            <a:r>
              <a:rPr lang="en-GB" dirty="0">
                <a:latin typeface="Times New Roman" panose="02020603050405020304" pitchFamily="18" charset="0"/>
                <a:cs typeface="Times New Roman" panose="02020603050405020304" pitchFamily="18" charset="0"/>
              </a:rPr>
              <a:t>5. Error Handling</a:t>
            </a:r>
          </a:p>
          <a:p>
            <a:pPr marL="0" indent="0">
              <a:buNone/>
            </a:pPr>
            <a:endParaRPr lang="en-GB" dirty="0"/>
          </a:p>
          <a:p>
            <a:pPr marL="0" indent="0">
              <a:buNone/>
            </a:pPr>
            <a:endParaRPr dirty="0"/>
          </a:p>
        </p:txBody>
      </p:sp>
    </p:spTree>
    <p:extLst>
      <p:ext uri="{BB962C8B-B14F-4D97-AF65-F5344CB8AC3E}">
        <p14:creationId xmlns:p14="http://schemas.microsoft.com/office/powerpoint/2010/main" val="2664394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5602" y="-550504"/>
            <a:ext cx="7704667" cy="1981200"/>
          </a:xfrm>
        </p:spPr>
        <p:txBody>
          <a:bodyPr/>
          <a:lstStyle/>
          <a:p>
            <a:r>
              <a:rPr dirty="0">
                <a:latin typeface="Times New Roman" panose="02020603050405020304" pitchFamily="18" charset="0"/>
                <a:cs typeface="Times New Roman" panose="02020603050405020304" pitchFamily="18" charset="0"/>
              </a:rPr>
              <a:t>FLOW DIAGRAM</a:t>
            </a:r>
          </a:p>
        </p:txBody>
      </p:sp>
      <p:sp>
        <p:nvSpPr>
          <p:cNvPr id="3" name="Content Placeholder 2"/>
          <p:cNvSpPr>
            <a:spLocks noGrp="1"/>
          </p:cNvSpPr>
          <p:nvPr>
            <p:ph idx="1"/>
          </p:nvPr>
        </p:nvSpPr>
        <p:spPr>
          <a:xfrm>
            <a:off x="1066108" y="2174032"/>
            <a:ext cx="7704667" cy="3125987"/>
          </a:xfrm>
        </p:spPr>
        <p:txBody>
          <a:bodyPr>
            <a:noAutofit/>
          </a:bodyPr>
          <a:lstStyle/>
          <a:p>
            <a:r>
              <a:rPr lang="en-IN" sz="1400" b="1" dirty="0">
                <a:latin typeface="Times New Roman" panose="02020603050405020304" pitchFamily="18" charset="0"/>
                <a:cs typeface="Times New Roman" panose="02020603050405020304" pitchFamily="18" charset="0"/>
              </a:rPr>
              <a:t>Start (Load Kernel Module)  </a:t>
            </a:r>
          </a:p>
          <a:p>
            <a:pPr marL="0" indent="0">
              <a:buNone/>
            </a:pPr>
            <a:r>
              <a:rPr lang="en-IN" sz="1400" dirty="0">
                <a:latin typeface="Times New Roman" panose="02020603050405020304" pitchFamily="18" charset="0"/>
                <a:cs typeface="Times New Roman" panose="02020603050405020304" pitchFamily="18" charset="0"/>
              </a:rPr>
              <a:t>  Trigger: </a:t>
            </a:r>
            <a:r>
              <a:rPr lang="en-IN" sz="1400" dirty="0" err="1">
                <a:latin typeface="Times New Roman" panose="02020603050405020304" pitchFamily="18" charset="0"/>
                <a:cs typeface="Times New Roman" panose="02020603050405020304" pitchFamily="18" charset="0"/>
              </a:rPr>
              <a:t>insmod</a:t>
            </a:r>
            <a:r>
              <a:rPr lang="en-IN" sz="1400" dirty="0">
                <a:latin typeface="Times New Roman" panose="02020603050405020304" pitchFamily="18" charset="0"/>
                <a:cs typeface="Times New Roman" panose="02020603050405020304" pitchFamily="18" charset="0"/>
              </a:rPr>
              <a:t> loads the kernel module.</a:t>
            </a:r>
          </a:p>
          <a:p>
            <a:r>
              <a:rPr lang="en-IN" sz="1400" b="1" dirty="0">
                <a:latin typeface="Times New Roman" panose="02020603050405020304" pitchFamily="18" charset="0"/>
                <a:cs typeface="Times New Roman" panose="02020603050405020304" pitchFamily="18" charset="0"/>
              </a:rPr>
              <a:t>Initialize UART Communication    </a:t>
            </a:r>
          </a:p>
          <a:p>
            <a:pPr marL="0" indent="0">
              <a:buNone/>
            </a:pPr>
            <a:r>
              <a:rPr lang="en-IN" sz="1400" dirty="0">
                <a:latin typeface="Times New Roman" panose="02020603050405020304" pitchFamily="18" charset="0"/>
                <a:cs typeface="Times New Roman" panose="02020603050405020304" pitchFamily="18" charset="0"/>
              </a:rPr>
              <a:t> Action: Call </a:t>
            </a:r>
            <a:r>
              <a:rPr lang="en-IN" sz="1400" dirty="0" err="1">
                <a:latin typeface="Times New Roman" panose="02020603050405020304" pitchFamily="18" charset="0"/>
                <a:cs typeface="Times New Roman" panose="02020603050405020304" pitchFamily="18" charset="0"/>
              </a:rPr>
              <a:t>uart_init</a:t>
            </a:r>
            <a:r>
              <a:rPr lang="en-IN" sz="1400" dirty="0">
                <a:latin typeface="Times New Roman" panose="02020603050405020304" pitchFamily="18" charset="0"/>
                <a:cs typeface="Times New Roman" panose="02020603050405020304" pitchFamily="18" charset="0"/>
              </a:rPr>
              <a:t>() to register the character device.</a:t>
            </a:r>
          </a:p>
          <a:p>
            <a:r>
              <a:rPr lang="en-IN" sz="1400" b="1" dirty="0">
                <a:latin typeface="Times New Roman" panose="02020603050405020304" pitchFamily="18" charset="0"/>
                <a:cs typeface="Times New Roman" panose="02020603050405020304" pitchFamily="18" charset="0"/>
              </a:rPr>
              <a:t>Open UART Device (Call </a:t>
            </a:r>
            <a:r>
              <a:rPr lang="en-IN" sz="1400" b="1" dirty="0" err="1">
                <a:latin typeface="Times New Roman" panose="02020603050405020304" pitchFamily="18" charset="0"/>
                <a:cs typeface="Times New Roman" panose="02020603050405020304" pitchFamily="18" charset="0"/>
              </a:rPr>
              <a:t>uart_open</a:t>
            </a:r>
            <a:r>
              <a:rPr lang="en-IN" sz="1400" b="1" dirty="0">
                <a:latin typeface="Times New Roman" panose="02020603050405020304" pitchFamily="18" charset="0"/>
                <a:cs typeface="Times New Roman" panose="02020603050405020304" pitchFamily="18" charset="0"/>
              </a:rPr>
              <a:t>())   </a:t>
            </a:r>
          </a:p>
          <a:p>
            <a:pPr marL="0" indent="0">
              <a:buNone/>
            </a:pPr>
            <a:r>
              <a:rPr lang="en-IN" sz="1400" dirty="0">
                <a:latin typeface="Times New Roman" panose="02020603050405020304" pitchFamily="18" charset="0"/>
                <a:cs typeface="Times New Roman" panose="02020603050405020304" pitchFamily="18" charset="0"/>
              </a:rPr>
              <a:t>  Action: User space app opens the device (e.g., /dev/ttyS0).</a:t>
            </a:r>
          </a:p>
          <a:p>
            <a:r>
              <a:rPr lang="en-IN" sz="1400" b="1" dirty="0">
                <a:latin typeface="Times New Roman" panose="02020603050405020304" pitchFamily="18" charset="0"/>
                <a:cs typeface="Times New Roman" panose="02020603050405020304" pitchFamily="18" charset="0"/>
              </a:rPr>
              <a:t>UART Device Open Check    </a:t>
            </a:r>
          </a:p>
          <a:p>
            <a:pPr marL="0" indent="0">
              <a:buNone/>
            </a:pPr>
            <a:r>
              <a:rPr lang="en-IN" sz="1400" dirty="0">
                <a:latin typeface="Times New Roman" panose="02020603050405020304" pitchFamily="18" charset="0"/>
                <a:cs typeface="Times New Roman" panose="02020603050405020304" pitchFamily="18" charset="0"/>
              </a:rPr>
              <a:t> Success: Proceed to the next step.    Failure: Log error, exit process.</a:t>
            </a:r>
          </a:p>
          <a:p>
            <a:r>
              <a:rPr lang="en-IN" sz="1400" b="1" dirty="0">
                <a:latin typeface="Times New Roman" panose="02020603050405020304" pitchFamily="18" charset="0"/>
                <a:cs typeface="Times New Roman" panose="02020603050405020304" pitchFamily="18" charset="0"/>
              </a:rPr>
              <a:t>Send Data (Call </a:t>
            </a:r>
            <a:r>
              <a:rPr lang="en-IN" sz="1400" b="1" dirty="0" err="1">
                <a:latin typeface="Times New Roman" panose="02020603050405020304" pitchFamily="18" charset="0"/>
                <a:cs typeface="Times New Roman" panose="02020603050405020304" pitchFamily="18" charset="0"/>
              </a:rPr>
              <a:t>uart_write</a:t>
            </a:r>
            <a:r>
              <a:rPr lang="en-IN" sz="1400" b="1" dirty="0">
                <a:latin typeface="Times New Roman" panose="02020603050405020304" pitchFamily="18" charset="0"/>
                <a:cs typeface="Times New Roman" panose="02020603050405020304" pitchFamily="18" charset="0"/>
              </a:rPr>
              <a:t>())  </a:t>
            </a:r>
          </a:p>
          <a:p>
            <a:pPr marL="0" indent="0">
              <a:buNone/>
            </a:pPr>
            <a:r>
              <a:rPr lang="en-IN" sz="1400" dirty="0">
                <a:latin typeface="Times New Roman" panose="02020603050405020304" pitchFamily="18" charset="0"/>
                <a:cs typeface="Times New Roman" panose="02020603050405020304" pitchFamily="18" charset="0"/>
              </a:rPr>
              <a:t> Action: Write data to UART device (via echo or other program).</a:t>
            </a:r>
          </a:p>
          <a:p>
            <a:r>
              <a:rPr lang="en-IN" sz="1400" b="1" dirty="0">
                <a:latin typeface="Times New Roman" panose="02020603050405020304" pitchFamily="18" charset="0"/>
                <a:cs typeface="Times New Roman" panose="02020603050405020304" pitchFamily="18" charset="0"/>
              </a:rPr>
              <a:t>Check for Data Availability (Call </a:t>
            </a:r>
            <a:r>
              <a:rPr lang="en-IN" sz="1400" b="1" dirty="0" err="1">
                <a:latin typeface="Times New Roman" panose="02020603050405020304" pitchFamily="18" charset="0"/>
                <a:cs typeface="Times New Roman" panose="02020603050405020304" pitchFamily="18" charset="0"/>
              </a:rPr>
              <a:t>uart_read</a:t>
            </a:r>
            <a:r>
              <a:rPr lang="en-IN" sz="1400" b="1" dirty="0">
                <a:latin typeface="Times New Roman" panose="02020603050405020304" pitchFamily="18" charset="0"/>
                <a:cs typeface="Times New Roman" panose="02020603050405020304" pitchFamily="18" charset="0"/>
              </a:rPr>
              <a:t>())    </a:t>
            </a:r>
          </a:p>
          <a:p>
            <a:pPr marL="0" indent="0">
              <a:buNone/>
            </a:pPr>
            <a:r>
              <a:rPr lang="en-IN" sz="1400" dirty="0">
                <a:latin typeface="Times New Roman" panose="02020603050405020304" pitchFamily="18" charset="0"/>
                <a:cs typeface="Times New Roman" panose="02020603050405020304" pitchFamily="18" charset="0"/>
              </a:rPr>
              <a:t> Action: Kernel checks if data is available for reading.</a:t>
            </a:r>
          </a:p>
          <a:p>
            <a:r>
              <a:rPr lang="en-IN" sz="1400" b="1" dirty="0">
                <a:latin typeface="Times New Roman" panose="02020603050405020304" pitchFamily="18" charset="0"/>
                <a:cs typeface="Times New Roman" panose="02020603050405020304" pitchFamily="18" charset="0"/>
              </a:rPr>
              <a:t>Data Available / No Data    </a:t>
            </a:r>
          </a:p>
          <a:p>
            <a:pPr marL="0" indent="0">
              <a:buNone/>
            </a:pPr>
            <a:r>
              <a:rPr lang="en-IN" sz="1400" dirty="0">
                <a:latin typeface="Times New Roman" panose="02020603050405020304" pitchFamily="18" charset="0"/>
                <a:cs typeface="Times New Roman" panose="02020603050405020304" pitchFamily="18" charset="0"/>
              </a:rPr>
              <a:t>Data Available: Read and process data using </a:t>
            </a:r>
            <a:r>
              <a:rPr lang="en-IN" sz="1400" dirty="0" err="1">
                <a:latin typeface="Times New Roman" panose="02020603050405020304" pitchFamily="18" charset="0"/>
                <a:cs typeface="Times New Roman" panose="02020603050405020304" pitchFamily="18" charset="0"/>
              </a:rPr>
              <a:t>uart_read</a:t>
            </a:r>
            <a:r>
              <a:rPr lang="en-IN" sz="1400" dirty="0">
                <a:latin typeface="Times New Roman" panose="02020603050405020304" pitchFamily="18" charset="0"/>
                <a:cs typeface="Times New Roman" panose="02020603050405020304" pitchFamily="18" charset="0"/>
              </a:rPr>
              <a:t>().    No Data: Return without action.</a:t>
            </a:r>
          </a:p>
          <a:p>
            <a:r>
              <a:rPr lang="en-IN" sz="1400" b="1" dirty="0">
                <a:latin typeface="Times New Roman" panose="02020603050405020304" pitchFamily="18" charset="0"/>
                <a:cs typeface="Times New Roman" panose="02020603050405020304" pitchFamily="18" charset="0"/>
              </a:rPr>
              <a:t>Exit (Unload Kernel Module)    </a:t>
            </a:r>
          </a:p>
          <a:p>
            <a:pPr marL="0" indent="0">
              <a:buNone/>
            </a:pPr>
            <a:r>
              <a:rPr lang="en-IN" sz="1400" dirty="0">
                <a:latin typeface="Times New Roman" panose="02020603050405020304" pitchFamily="18" charset="0"/>
                <a:cs typeface="Times New Roman" panose="02020603050405020304" pitchFamily="18" charset="0"/>
              </a:rPr>
              <a:t>Trigger: </a:t>
            </a:r>
            <a:r>
              <a:rPr lang="en-IN" sz="1400" dirty="0" err="1">
                <a:latin typeface="Times New Roman" panose="02020603050405020304" pitchFamily="18" charset="0"/>
                <a:cs typeface="Times New Roman" panose="02020603050405020304" pitchFamily="18" charset="0"/>
              </a:rPr>
              <a:t>rmmod</a:t>
            </a:r>
            <a:r>
              <a:rPr lang="en-IN" sz="1400" dirty="0">
                <a:latin typeface="Times New Roman" panose="02020603050405020304" pitchFamily="18" charset="0"/>
                <a:cs typeface="Times New Roman" panose="02020603050405020304" pitchFamily="18" charset="0"/>
              </a:rPr>
              <a:t> unloads module.    Action: Call </a:t>
            </a:r>
            <a:r>
              <a:rPr lang="en-IN" sz="1400" dirty="0" err="1">
                <a:latin typeface="Times New Roman" panose="02020603050405020304" pitchFamily="18" charset="0"/>
                <a:cs typeface="Times New Roman" panose="02020603050405020304" pitchFamily="18" charset="0"/>
              </a:rPr>
              <a:t>uart_exit</a:t>
            </a:r>
            <a:r>
              <a:rPr lang="en-IN" sz="1400" dirty="0">
                <a:latin typeface="Times New Roman" panose="02020603050405020304" pitchFamily="18" charset="0"/>
                <a:cs typeface="Times New Roman" panose="02020603050405020304" pitchFamily="18" charset="0"/>
              </a:rPr>
              <a:t>() to unregister the device.</a:t>
            </a:r>
          </a:p>
          <a:p>
            <a:pPr marL="0" indent="0">
              <a:buNone/>
            </a:pPr>
            <a:r>
              <a:rPr lang="en-IN" sz="1400" dirty="0">
                <a:latin typeface="Times New Roman" panose="02020603050405020304" pitchFamily="18" charset="0"/>
                <a:cs typeface="Times New Roman" panose="02020603050405020304" pitchFamily="18" charset="0"/>
                <a:hlinkClick r:id="rId2" action="ppaction://hlinksldjump"/>
              </a:rPr>
              <a:t>https://github.com/shweatank/Mirafra_LDD_BATCH/tree/ashrithareddy/PROJECT</a:t>
            </a:r>
            <a:endParaRPr lang="en-IN" sz="1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1BE52F-2341-21A3-26C3-8B938A4B2CB6}"/>
              </a:ext>
            </a:extLst>
          </p:cNvPr>
          <p:cNvSpPr>
            <a:spLocks noGrp="1"/>
          </p:cNvSpPr>
          <p:nvPr>
            <p:ph type="title"/>
          </p:nvPr>
        </p:nvSpPr>
        <p:spPr>
          <a:xfrm>
            <a:off x="934270" y="532266"/>
            <a:ext cx="7704667" cy="1981200"/>
          </a:xfrm>
        </p:spPr>
        <p:txBody>
          <a:bodyPr>
            <a:normAutofit/>
          </a:bodyPr>
          <a:lstStyle/>
          <a:p>
            <a:r>
              <a:rPr lang="en-IN" sz="4400" dirty="0">
                <a:latin typeface="Times New Roman" panose="02020603050405020304" pitchFamily="18" charset="0"/>
                <a:cs typeface="Times New Roman" panose="02020603050405020304" pitchFamily="18" charset="0"/>
              </a:rPr>
              <a:t>BLOCK DIAGRAM</a:t>
            </a:r>
            <a:endParaRPr lang="en-IN" sz="4400" dirty="0"/>
          </a:p>
        </p:txBody>
      </p:sp>
      <p:pic>
        <p:nvPicPr>
          <p:cNvPr id="1026" name="Picture 2" descr="Simple Linux character device driver – Oleg Kutkov personal blog">
            <a:extLst>
              <a:ext uri="{FF2B5EF4-FFF2-40B4-BE49-F238E27FC236}">
                <a16:creationId xmlns:a16="http://schemas.microsoft.com/office/drawing/2014/main" id="{332AF97E-67E7-83F0-ACEC-1B6B80843F4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499936" y="2369976"/>
            <a:ext cx="4693966" cy="36291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809105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238F2F-C547-C2ED-A581-CF86F278E7C3}"/>
              </a:ext>
            </a:extLst>
          </p:cNvPr>
          <p:cNvSpPr>
            <a:spLocks noGrp="1"/>
          </p:cNvSpPr>
          <p:nvPr>
            <p:ph type="title"/>
          </p:nvPr>
        </p:nvSpPr>
        <p:spPr>
          <a:xfrm>
            <a:off x="982133" y="457201"/>
            <a:ext cx="7704667" cy="597158"/>
          </a:xfrm>
        </p:spPr>
        <p:txBody>
          <a:bodyPr>
            <a:noAutofit/>
          </a:bodyPr>
          <a:lstStyle/>
          <a:p>
            <a:r>
              <a:rPr lang="en-GB" dirty="0">
                <a:latin typeface="Times New Roman" panose="02020603050405020304" pitchFamily="18" charset="0"/>
                <a:cs typeface="Times New Roman" panose="02020603050405020304" pitchFamily="18" charset="0"/>
              </a:rPr>
              <a:t>BAREMETAL UART</a:t>
            </a:r>
            <a:endParaRPr lang="en-IN"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C4DDFCB8-F6B7-49D5-8E00-AE7A9725221B}"/>
              </a:ext>
            </a:extLst>
          </p:cNvPr>
          <p:cNvSpPr txBox="1"/>
          <p:nvPr/>
        </p:nvSpPr>
        <p:spPr>
          <a:xfrm>
            <a:off x="1101012" y="-74645"/>
            <a:ext cx="7828384" cy="5632311"/>
          </a:xfrm>
          <a:prstGeom prst="rect">
            <a:avLst/>
          </a:prstGeom>
          <a:noFill/>
        </p:spPr>
        <p:txBody>
          <a:bodyPr wrap="square">
            <a:spAutoFit/>
          </a:bodyPr>
          <a:lstStyle/>
          <a:p>
            <a:endParaRPr lang="en-GB" dirty="0"/>
          </a:p>
          <a:p>
            <a:endParaRPr lang="en-GB" dirty="0"/>
          </a:p>
          <a:p>
            <a:endParaRPr lang="en-GB" dirty="0"/>
          </a:p>
          <a:p>
            <a:endParaRPr lang="en-GB" dirty="0"/>
          </a:p>
          <a:p>
            <a:endParaRPr lang="en-GB" dirty="0"/>
          </a:p>
          <a:p>
            <a:endParaRPr lang="en-GB" b="1" dirty="0"/>
          </a:p>
          <a:p>
            <a:pPr marL="285750" indent="-285750">
              <a:buFont typeface="Arial" panose="020B0604020202020204" pitchFamily="34" charset="0"/>
              <a:buChar char="•"/>
            </a:pPr>
            <a:r>
              <a:rPr lang="en-GB" b="1" dirty="0">
                <a:latin typeface="Times New Roman" panose="02020603050405020304" pitchFamily="18" charset="0"/>
                <a:cs typeface="Times New Roman" panose="02020603050405020304" pitchFamily="18" charset="0"/>
              </a:rPr>
              <a:t>Start (Load Kernel Module)Trigger: </a:t>
            </a:r>
            <a:r>
              <a:rPr lang="en-IN" dirty="0" err="1">
                <a:latin typeface="Times New Roman" panose="02020603050405020304" pitchFamily="18" charset="0"/>
                <a:cs typeface="Times New Roman" panose="02020603050405020304" pitchFamily="18" charset="0"/>
              </a:rPr>
              <a:t>insmod</a:t>
            </a:r>
            <a:r>
              <a:rPr lang="en-IN" dirty="0">
                <a:latin typeface="Times New Roman" panose="02020603050405020304" pitchFamily="18" charset="0"/>
                <a:cs typeface="Times New Roman" panose="02020603050405020304" pitchFamily="18" charset="0"/>
              </a:rPr>
              <a:t> loads the kernel module.</a:t>
            </a:r>
            <a:endParaRPr lang="en-GB"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GB" b="1" dirty="0">
                <a:latin typeface="Times New Roman" panose="02020603050405020304" pitchFamily="18" charset="0"/>
                <a:cs typeface="Times New Roman" panose="02020603050405020304" pitchFamily="18" charset="0"/>
              </a:rPr>
              <a:t>Initialize UART Communication:</a:t>
            </a:r>
            <a:r>
              <a:rPr lang="en-GB" dirty="0">
                <a:latin typeface="Times New Roman" panose="02020603050405020304" pitchFamily="18" charset="0"/>
                <a:cs typeface="Times New Roman" panose="02020603050405020304" pitchFamily="18" charset="0"/>
              </a:rPr>
              <a:t>(MMIO) region is mapped using </a:t>
            </a:r>
            <a:r>
              <a:rPr lang="en-GB" dirty="0" err="1">
                <a:latin typeface="Times New Roman" panose="02020603050405020304" pitchFamily="18" charset="0"/>
                <a:cs typeface="Times New Roman" panose="02020603050405020304" pitchFamily="18" charset="0"/>
              </a:rPr>
              <a:t>ioremap</a:t>
            </a:r>
            <a:r>
              <a:rPr lang="en-GB" dirty="0">
                <a:latin typeface="Times New Roman" panose="02020603050405020304" pitchFamily="18" charset="0"/>
                <a:cs typeface="Times New Roman" panose="02020603050405020304" pitchFamily="18" charset="0"/>
              </a:rPr>
              <a:t>() function and </a:t>
            </a:r>
            <a:r>
              <a:rPr lang="en-IN" dirty="0">
                <a:latin typeface="Times New Roman" panose="02020603050405020304" pitchFamily="18" charset="0"/>
                <a:cs typeface="Times New Roman" panose="02020603050405020304" pitchFamily="18" charset="0"/>
              </a:rPr>
              <a:t>character device is registered.</a:t>
            </a:r>
            <a:endParaRPr lang="en-GB"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GB" b="1" dirty="0">
                <a:latin typeface="Times New Roman" panose="02020603050405020304" pitchFamily="18" charset="0"/>
                <a:cs typeface="Times New Roman" panose="02020603050405020304" pitchFamily="18" charset="0"/>
              </a:rPr>
              <a:t>Open UART Device: </a:t>
            </a:r>
            <a:r>
              <a:rPr lang="en-GB" dirty="0">
                <a:latin typeface="Times New Roman" panose="02020603050405020304" pitchFamily="18" charset="0"/>
                <a:cs typeface="Times New Roman" panose="02020603050405020304" pitchFamily="18" charset="0"/>
              </a:rPr>
              <a:t>The </a:t>
            </a:r>
            <a:r>
              <a:rPr lang="en-GB" dirty="0" err="1">
                <a:latin typeface="Times New Roman" panose="02020603050405020304" pitchFamily="18" charset="0"/>
                <a:cs typeface="Times New Roman" panose="02020603050405020304" pitchFamily="18" charset="0"/>
              </a:rPr>
              <a:t>dev_open</a:t>
            </a:r>
            <a:r>
              <a:rPr lang="en-GB" dirty="0">
                <a:latin typeface="Times New Roman" panose="02020603050405020304" pitchFamily="18" charset="0"/>
                <a:cs typeface="Times New Roman" panose="02020603050405020304" pitchFamily="18" charset="0"/>
              </a:rPr>
              <a:t>() function is called here.</a:t>
            </a:r>
          </a:p>
          <a:p>
            <a:pPr marL="28575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Send Data: </a:t>
            </a:r>
            <a:r>
              <a:rPr lang="en-IN" dirty="0" err="1">
                <a:latin typeface="Times New Roman" panose="02020603050405020304" pitchFamily="18" charset="0"/>
                <a:cs typeface="Times New Roman" panose="02020603050405020304" pitchFamily="18" charset="0"/>
              </a:rPr>
              <a:t>dev_Write</a:t>
            </a:r>
            <a:r>
              <a:rPr lang="en-IN" dirty="0">
                <a:latin typeface="Times New Roman" panose="02020603050405020304" pitchFamily="18" charset="0"/>
                <a:cs typeface="Times New Roman" panose="02020603050405020304" pitchFamily="18" charset="0"/>
              </a:rPr>
              <a:t>() is called and check </a:t>
            </a:r>
            <a:r>
              <a:rPr lang="en-GB" dirty="0">
                <a:latin typeface="Times New Roman" panose="02020603050405020304" pitchFamily="18" charset="0"/>
                <a:cs typeface="Times New Roman" panose="02020603050405020304" pitchFamily="18" charset="0"/>
              </a:rPr>
              <a:t>checks if the UART transmitter is ready by reading the </a:t>
            </a:r>
            <a:r>
              <a:rPr lang="en-IN" dirty="0">
                <a:latin typeface="Times New Roman" panose="02020603050405020304" pitchFamily="18" charset="0"/>
                <a:cs typeface="Times New Roman" panose="02020603050405020304" pitchFamily="18" charset="0"/>
              </a:rPr>
              <a:t>UART_STATUS register. Writes data to UART_DATA register. </a:t>
            </a:r>
            <a:endParaRPr lang="en-GB"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Check for Data Availability: </a:t>
            </a:r>
            <a:r>
              <a:rPr lang="en-IN" dirty="0" err="1">
                <a:latin typeface="Times New Roman" panose="02020603050405020304" pitchFamily="18" charset="0"/>
                <a:cs typeface="Times New Roman" panose="02020603050405020304" pitchFamily="18" charset="0"/>
              </a:rPr>
              <a:t>dev_read</a:t>
            </a:r>
            <a:r>
              <a:rPr lang="en-IN" dirty="0">
                <a:latin typeface="Times New Roman" panose="02020603050405020304" pitchFamily="18" charset="0"/>
                <a:cs typeface="Times New Roman" panose="02020603050405020304" pitchFamily="18" charset="0"/>
              </a:rPr>
              <a:t>() is called and </a:t>
            </a:r>
            <a:r>
              <a:rPr lang="en-GB" dirty="0">
                <a:latin typeface="Times New Roman" panose="02020603050405020304" pitchFamily="18" charset="0"/>
                <a:cs typeface="Times New Roman" panose="02020603050405020304" pitchFamily="18" charset="0"/>
              </a:rPr>
              <a:t>driver checks if data is available by reading the </a:t>
            </a:r>
            <a:r>
              <a:rPr lang="en-IN" dirty="0">
                <a:latin typeface="Times New Roman" panose="02020603050405020304" pitchFamily="18" charset="0"/>
                <a:cs typeface="Times New Roman" panose="02020603050405020304" pitchFamily="18" charset="0"/>
              </a:rPr>
              <a:t>UART_STATUS register. Reads data from UART_DATA register. </a:t>
            </a:r>
          </a:p>
          <a:p>
            <a:pPr marL="28575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Close UART Device: </a:t>
            </a:r>
            <a:r>
              <a:rPr lang="en-IN" dirty="0" err="1">
                <a:latin typeface="Times New Roman" panose="02020603050405020304" pitchFamily="18" charset="0"/>
                <a:cs typeface="Times New Roman" panose="02020603050405020304" pitchFamily="18" charset="0"/>
              </a:rPr>
              <a:t>dev_release</a:t>
            </a:r>
            <a:r>
              <a:rPr lang="en-IN" dirty="0">
                <a:latin typeface="Times New Roman" panose="02020603050405020304" pitchFamily="18" charset="0"/>
                <a:cs typeface="Times New Roman" panose="02020603050405020304" pitchFamily="18" charset="0"/>
              </a:rPr>
              <a:t>() is called here.</a:t>
            </a:r>
          </a:p>
          <a:p>
            <a:pPr marL="28575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Exit (Unload Kernel Module): </a:t>
            </a:r>
            <a:r>
              <a:rPr lang="en-GB" dirty="0">
                <a:latin typeface="Times New Roman" panose="02020603050405020304" pitchFamily="18" charset="0"/>
                <a:cs typeface="Times New Roman" panose="02020603050405020304" pitchFamily="18" charset="0"/>
              </a:rPr>
              <a:t>kernel module is unloaded using </a:t>
            </a:r>
            <a:r>
              <a:rPr lang="en-GB" dirty="0" err="1">
                <a:latin typeface="Times New Roman" panose="02020603050405020304" pitchFamily="18" charset="0"/>
                <a:cs typeface="Times New Roman" panose="02020603050405020304" pitchFamily="18" charset="0"/>
              </a:rPr>
              <a:t>rmmod</a:t>
            </a:r>
            <a:r>
              <a:rPr lang="en-GB" dirty="0">
                <a:latin typeface="Times New Roman" panose="02020603050405020304" pitchFamily="18" charset="0"/>
                <a:cs typeface="Times New Roman" panose="02020603050405020304" pitchFamily="18" charset="0"/>
              </a:rPr>
              <a:t> and </a:t>
            </a:r>
            <a:r>
              <a:rPr lang="en-GB" dirty="0" err="1">
                <a:latin typeface="Times New Roman" panose="02020603050405020304" pitchFamily="18" charset="0"/>
                <a:cs typeface="Times New Roman" panose="02020603050405020304" pitchFamily="18" charset="0"/>
              </a:rPr>
              <a:t>Unmaps</a:t>
            </a:r>
            <a:r>
              <a:rPr lang="en-GB" dirty="0">
                <a:latin typeface="Times New Roman" panose="02020603050405020304" pitchFamily="18" charset="0"/>
                <a:cs typeface="Times New Roman" panose="02020603050405020304" pitchFamily="18" charset="0"/>
              </a:rPr>
              <a:t> the UART MMIO region using </a:t>
            </a:r>
            <a:r>
              <a:rPr lang="en-GB" dirty="0" err="1">
                <a:latin typeface="Times New Roman" panose="02020603050405020304" pitchFamily="18" charset="0"/>
                <a:cs typeface="Times New Roman" panose="02020603050405020304" pitchFamily="18" charset="0"/>
              </a:rPr>
              <a:t>iounmap</a:t>
            </a:r>
            <a:r>
              <a:rPr lang="en-GB" dirty="0">
                <a:latin typeface="Times New Roman" panose="02020603050405020304" pitchFamily="18" charset="0"/>
                <a:cs typeface="Times New Roman" panose="02020603050405020304" pitchFamily="18" charset="0"/>
              </a:rPr>
              <a:t>(). Destroys device node and class and unregisters character device.</a:t>
            </a:r>
            <a:endParaRPr lang="en-GB"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192334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824B87-FC33-23C4-01FB-E5F2E4EADD2D}"/>
              </a:ext>
            </a:extLst>
          </p:cNvPr>
          <p:cNvSpPr>
            <a:spLocks noGrp="1"/>
          </p:cNvSpPr>
          <p:nvPr>
            <p:ph type="title"/>
          </p:nvPr>
        </p:nvSpPr>
        <p:spPr>
          <a:xfrm>
            <a:off x="982133" y="858416"/>
            <a:ext cx="7704667" cy="998376"/>
          </a:xfrm>
        </p:spPr>
        <p:txBody>
          <a:bodyPr>
            <a:normAutofit/>
          </a:bodyPr>
          <a:lstStyle/>
          <a:p>
            <a:r>
              <a:rPr lang="en-GB" dirty="0">
                <a:latin typeface="Times New Roman" panose="02020603050405020304" pitchFamily="18" charset="0"/>
                <a:cs typeface="Times New Roman" panose="02020603050405020304" pitchFamily="18" charset="0"/>
              </a:rPr>
              <a:t>RESULT</a:t>
            </a:r>
            <a:endParaRPr lang="en-IN" dirty="0">
              <a:latin typeface="Times New Roman" panose="02020603050405020304" pitchFamily="18" charset="0"/>
              <a:cs typeface="Times New Roman" panose="02020603050405020304" pitchFamily="18" charset="0"/>
            </a:endParaRPr>
          </a:p>
        </p:txBody>
      </p:sp>
      <p:pic>
        <p:nvPicPr>
          <p:cNvPr id="12" name="WhatsApp Video 2024-12-25 at 16.02.37">
            <a:hlinkClick r:id="" action="ppaction://media"/>
            <a:extLst>
              <a:ext uri="{FF2B5EF4-FFF2-40B4-BE49-F238E27FC236}">
                <a16:creationId xmlns:a16="http://schemas.microsoft.com/office/drawing/2014/main" id="{A2C2B1CB-F5AD-C226-AB6F-44B1F2E419BB}"/>
              </a:ext>
            </a:extLst>
          </p:cNvPr>
          <p:cNvPicPr>
            <a:picLocks noGrp="1" noChangeAspect="1"/>
          </p:cNvPicPr>
          <p:nvPr>
            <p:ph idx="1"/>
            <a:videoFile r:link="rId2"/>
            <p:extLst>
              <p:ext uri="{DAA4B4D4-6D71-4841-9C94-3DE7FCFB9230}">
                <p14:media xmlns:p14="http://schemas.microsoft.com/office/powerpoint/2010/main" r:embed="rId1"/>
              </p:ext>
            </p:extLst>
          </p:nvPr>
        </p:nvPicPr>
        <p:blipFill>
          <a:blip r:embed="rId4"/>
          <a:stretch>
            <a:fillRect/>
          </a:stretch>
        </p:blipFill>
        <p:spPr>
          <a:xfrm>
            <a:off x="2110527" y="2127381"/>
            <a:ext cx="5447878" cy="2873828"/>
          </a:xfrm>
        </p:spPr>
      </p:pic>
    </p:spTree>
    <p:extLst>
      <p:ext uri="{BB962C8B-B14F-4D97-AF65-F5344CB8AC3E}">
        <p14:creationId xmlns:p14="http://schemas.microsoft.com/office/powerpoint/2010/main" val="19244038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5814"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100000">
                <p:cTn id="7" fill="hold" display="0">
                  <p:stCondLst>
                    <p:cond delay="indefinite"/>
                  </p:stCondLst>
                </p:cTn>
                <p:tgtEl>
                  <p:spTgt spid="12"/>
                </p:tgtEl>
              </p:cMediaNode>
            </p:video>
            <p:seq concurrent="1" nextAc="seek">
              <p:cTn id="8" restart="whenNotActive" fill="hold" evtFilter="cancelBubble" nodeType="interactiveSeq">
                <p:stCondLst>
                  <p:cond evt="onClick" delay="0">
                    <p:tgtEl>
                      <p:spTgt spid="1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2"/>
                                        </p:tgtEl>
                                      </p:cBhvr>
                                    </p:cmd>
                                  </p:childTnLst>
                                </p:cTn>
                              </p:par>
                            </p:childTnLst>
                          </p:cTn>
                        </p:par>
                      </p:childTnLst>
                    </p:cTn>
                  </p:par>
                </p:childTnLst>
              </p:cTn>
              <p:nextCondLst>
                <p:cond evt="onClick" delay="0">
                  <p:tgtEl>
                    <p:spTgt spid="12"/>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latin typeface="Times New Roman" panose="02020603050405020304" pitchFamily="18" charset="0"/>
                <a:cs typeface="Times New Roman" panose="02020603050405020304" pitchFamily="18" charset="0"/>
              </a:rPr>
              <a:t>CONCLUSION</a:t>
            </a:r>
          </a:p>
        </p:txBody>
      </p:sp>
      <p:sp>
        <p:nvSpPr>
          <p:cNvPr id="3" name="Content Placeholder 2"/>
          <p:cNvSpPr>
            <a:spLocks noGrp="1"/>
          </p:cNvSpPr>
          <p:nvPr>
            <p:ph idx="1"/>
          </p:nvPr>
        </p:nvSpPr>
        <p:spPr>
          <a:xfrm>
            <a:off x="1047447" y="2097833"/>
            <a:ext cx="7704667" cy="3332816"/>
          </a:xfrm>
        </p:spPr>
        <p:txBody>
          <a:bodyPr>
            <a:normAutofit fontScale="92500"/>
          </a:bodyPr>
          <a:lstStyle/>
          <a:p>
            <a:r>
              <a:rPr dirty="0">
                <a:latin typeface="Times New Roman" panose="02020603050405020304" pitchFamily="18" charset="0"/>
                <a:cs typeface="Times New Roman" panose="02020603050405020304" pitchFamily="18" charset="0"/>
              </a:rPr>
              <a:t>This UART driver module successfully implements serial communication on the Raspberry Pi using the Linux kernel. The system facilitates basic data transfer between devices over UART, including sending and receiving data. The module also handles opening and closing the device, reading and writing data, and error handling, providing a simple yet robust method for serial communication. This implementation can be further extended for more complex use cases, such as interfacing with microcontrollers or sensors.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1DAB7C-E46B-35FB-BF2A-7A8FA05CAA33}"/>
            </a:ext>
          </a:extLst>
        </p:cNvPr>
        <p:cNvGrpSpPr/>
        <p:nvPr/>
      </p:nvGrpSpPr>
      <p:grpSpPr>
        <a:xfrm>
          <a:off x="0" y="0"/>
          <a:ext cx="0" cy="0"/>
          <a:chOff x="0" y="0"/>
          <a:chExt cx="0" cy="0"/>
        </a:xfrm>
      </p:grpSpPr>
      <p:pic>
        <p:nvPicPr>
          <p:cNvPr id="4" name="Picture 2" descr="Thank You Images for PPT / Presentation - Thank You Quotes ...">
            <a:extLst>
              <a:ext uri="{FF2B5EF4-FFF2-40B4-BE49-F238E27FC236}">
                <a16:creationId xmlns:a16="http://schemas.microsoft.com/office/drawing/2014/main" id="{CC6A7589-4778-001B-4414-1303A2B2742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12778" y="701216"/>
            <a:ext cx="6819459" cy="54555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772757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4A73C3-6722-E2FE-180E-45E8205032AB}"/>
            </a:ext>
          </a:extLst>
        </p:cNvPr>
        <p:cNvGrpSpPr/>
        <p:nvPr/>
      </p:nvGrpSpPr>
      <p:grpSpPr>
        <a:xfrm>
          <a:off x="0" y="0"/>
          <a:ext cx="0" cy="0"/>
          <a:chOff x="0" y="0"/>
          <a:chExt cx="0" cy="0"/>
        </a:xfrm>
      </p:grpSpPr>
      <p:pic>
        <p:nvPicPr>
          <p:cNvPr id="4" name="Picture 2" descr="Any Questions PowerPoint PPT Slide design">
            <a:extLst>
              <a:ext uri="{FF2B5EF4-FFF2-40B4-BE49-F238E27FC236}">
                <a16:creationId xmlns:a16="http://schemas.microsoft.com/office/drawing/2014/main" id="{D2F6171B-3E08-5EE3-8124-AADA9FF4546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28332" y="1380932"/>
            <a:ext cx="7565162" cy="42626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6870091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EBEBEB"/>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docProps/app.xml><?xml version="1.0" encoding="utf-8"?>
<Properties xmlns="http://schemas.openxmlformats.org/officeDocument/2006/extended-properties" xmlns:vt="http://schemas.openxmlformats.org/officeDocument/2006/docPropsVTypes">
  <Template/>
  <TotalTime>1663</TotalTime>
  <Words>650</Words>
  <Application>Microsoft Office PowerPoint</Application>
  <PresentationFormat>On-screen Show (4:3)</PresentationFormat>
  <Paragraphs>50</Paragraphs>
  <Slides>11</Slides>
  <Notes>0</Notes>
  <HiddenSlides>0</HiddenSlides>
  <MMClips>1</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Corbel</vt:lpstr>
      <vt:lpstr>Times New Roman</vt:lpstr>
      <vt:lpstr>Parallax</vt:lpstr>
      <vt:lpstr>DATA TRANSFER via UART  </vt:lpstr>
      <vt:lpstr>AIM AND OBJECTIVE</vt:lpstr>
      <vt:lpstr>OVERVIEW</vt:lpstr>
      <vt:lpstr>METHODOLOGY INVOLVED</vt:lpstr>
      <vt:lpstr>FLOW DIAGRAM</vt:lpstr>
      <vt:lpstr>BLOCK DIAGRAM</vt:lpstr>
      <vt:lpstr>BAREMETAL UART</vt:lpstr>
      <vt:lpstr>RESULT</vt:lpstr>
      <vt:lpstr>CONCLUSION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CHADA ASHRITHA REDDY</dc:creator>
  <cp:keywords/>
  <dc:description>generated using python-pptx</dc:description>
  <cp:lastModifiedBy>CHADA ASHRITHA REDDY</cp:lastModifiedBy>
  <cp:revision>12</cp:revision>
  <dcterms:created xsi:type="dcterms:W3CDTF">2013-01-27T09:14:16Z</dcterms:created>
  <dcterms:modified xsi:type="dcterms:W3CDTF">2024-12-26T05:17:20Z</dcterms:modified>
  <cp:category/>
</cp:coreProperties>
</file>